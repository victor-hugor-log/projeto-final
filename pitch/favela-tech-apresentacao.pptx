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624ba898524e97" /><Relationship Type="http://schemas.openxmlformats.org/officeDocument/2006/relationships/extended-properties" Target="/docProps/app.xml" Id="Re5e61e4bd90a41e4" /><Relationship Type="http://schemas.openxmlformats.org/officeDocument/2006/relationships/officeDocument" Target="/ppt/presentation.xml" Id="R36de05fcaf4346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d7166d39534d45"/>
  </p:sldMasterIdLst>
  <p:notesMasterIdLst>
    <p:notesMasterId xmlns:r="http://schemas.openxmlformats.org/officeDocument/2006/relationships" r:id="R2e6644a525904155"/>
  </p:notesMasterIdLst>
  <p:sldIdLst>
    <p:sldId xmlns:r="http://schemas.openxmlformats.org/officeDocument/2006/relationships" id="256" r:id="Rd155124d96fe4702"/>
    <p:sldId xmlns:r="http://schemas.openxmlformats.org/officeDocument/2006/relationships" id="257" r:id="Rdb2c39a5f5ce421b"/>
    <p:sldId xmlns:r="http://schemas.openxmlformats.org/officeDocument/2006/relationships" id="258" r:id="Rcdc61964a71248a7"/>
    <p:sldId xmlns:r="http://schemas.openxmlformats.org/officeDocument/2006/relationships" id="259" r:id="R5c8b44247e664c8b"/>
    <p:sldId xmlns:r="http://schemas.openxmlformats.org/officeDocument/2006/relationships" id="260" r:id="R1202f986e0654e22"/>
    <p:sldId xmlns:r="http://schemas.openxmlformats.org/officeDocument/2006/relationships" id="261" r:id="Rfb1525d747624c45"/>
    <p:sldId xmlns:r="http://schemas.openxmlformats.org/officeDocument/2006/relationships" id="262" r:id="Read692a8644c42c7"/>
    <p:sldId xmlns:r="http://schemas.openxmlformats.org/officeDocument/2006/relationships" id="263" r:id="Rd65c8a4eeb324e60"/>
    <p:sldId xmlns:r="http://schemas.openxmlformats.org/officeDocument/2006/relationships" id="264" r:id="R240694b788dd4158"/>
    <p:sldId xmlns:r="http://schemas.openxmlformats.org/officeDocument/2006/relationships" id="265" r:id="Rb312706654814913"/>
    <p:sldId xmlns:r="http://schemas.openxmlformats.org/officeDocument/2006/relationships" id="266" r:id="Rb036b7ee75934c44"/>
    <p:sldId xmlns:r="http://schemas.openxmlformats.org/officeDocument/2006/relationships" id="267" r:id="R840ada7f9a4f41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7b1f58eb1f4b3b" /><Relationship Type="http://schemas.openxmlformats.org/officeDocument/2006/relationships/slideMaster" Target="/ppt/slideMasters/slideMaster1.xml" Id="R20d7166d39534d45" /><Relationship Type="http://schemas.openxmlformats.org/officeDocument/2006/relationships/notesMaster" Target="/ppt/notesMasters/notesMaster1.xml" Id="R2e6644a525904155" /><Relationship Type="http://schemas.openxmlformats.org/officeDocument/2006/relationships/presProps" Target="/ppt/presProps.xml" Id="R1f40009f39c1415f" /><Relationship Type="http://schemas.openxmlformats.org/officeDocument/2006/relationships/tableStyles" Target="/ppt/tableStyles.xml" Id="R0010c87003d74783" /><Relationship Type="http://schemas.openxmlformats.org/officeDocument/2006/relationships/slide" Target="/ppt/slides/slide1.xml" Id="Rd155124d96fe4702" /><Relationship Type="http://schemas.openxmlformats.org/officeDocument/2006/relationships/slide" Target="/ppt/slides/slide2.xml" Id="Rdb2c39a5f5ce421b" /><Relationship Type="http://schemas.openxmlformats.org/officeDocument/2006/relationships/slide" Target="/ppt/slides/slide3.xml" Id="Rcdc61964a71248a7" /><Relationship Type="http://schemas.openxmlformats.org/officeDocument/2006/relationships/slide" Target="/ppt/slides/slide4.xml" Id="R5c8b44247e664c8b" /><Relationship Type="http://schemas.openxmlformats.org/officeDocument/2006/relationships/slide" Target="/ppt/slides/slide5.xml" Id="R1202f986e0654e22" /><Relationship Type="http://schemas.openxmlformats.org/officeDocument/2006/relationships/slide" Target="/ppt/slides/slide6.xml" Id="Rfb1525d747624c45" /><Relationship Type="http://schemas.openxmlformats.org/officeDocument/2006/relationships/slide" Target="/ppt/slides/slide7.xml" Id="Read692a8644c42c7" /><Relationship Type="http://schemas.openxmlformats.org/officeDocument/2006/relationships/slide" Target="/ppt/slides/slide8.xml" Id="Rd65c8a4eeb324e60" /><Relationship Type="http://schemas.openxmlformats.org/officeDocument/2006/relationships/slide" Target="/ppt/slides/slide9.xml" Id="R240694b788dd4158" /><Relationship Type="http://schemas.openxmlformats.org/officeDocument/2006/relationships/slide" Target="/ppt/slides/slide10.xml" Id="Rb312706654814913" /><Relationship Type="http://schemas.openxmlformats.org/officeDocument/2006/relationships/slide" Target="/ppt/slides/slide11.xml" Id="Rb036b7ee75934c44" /><Relationship Type="http://schemas.openxmlformats.org/officeDocument/2006/relationships/slide" Target="/ppt/slides/slide12.xml" Id="R840ada7f9a4f41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1c93e3c3dc4b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fdca3baa3437c" /><Relationship Type="http://schemas.openxmlformats.org/officeDocument/2006/relationships/notesMaster" Target="/ppt/notesMasters/notesMaster1.xml" Id="R686e38d05c5f4c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641b6bc53348ec" /><Relationship Type="http://schemas.openxmlformats.org/officeDocument/2006/relationships/notesMaster" Target="/ppt/notesMasters/notesMaster1.xml" Id="Rfe75f59129e24e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4c904d462438c" /><Relationship Type="http://schemas.openxmlformats.org/officeDocument/2006/relationships/notesMaster" Target="/ppt/notesMasters/notesMaster1.xml" Id="Rfc4edddfc0a7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f283fc7c834efa" /><Relationship Type="http://schemas.openxmlformats.org/officeDocument/2006/relationships/notesMaster" Target="/ppt/notesMasters/notesMaster1.xml" Id="Rcb60500d4ba145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df8594b084038" /><Relationship Type="http://schemas.openxmlformats.org/officeDocument/2006/relationships/notesMaster" Target="/ppt/notesMasters/notesMaster1.xml" Id="Rd0d795e2a5a5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e61373db5948c0" /><Relationship Type="http://schemas.openxmlformats.org/officeDocument/2006/relationships/notesMaster" Target="/ppt/notesMasters/notesMaster1.xml" Id="R4d03083b8f544a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d4cba9c0e431e" /><Relationship Type="http://schemas.openxmlformats.org/officeDocument/2006/relationships/notesMaster" Target="/ppt/notesMasters/notesMaster1.xml" Id="Rd4696372328b4d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10143529a54cf4" /><Relationship Type="http://schemas.openxmlformats.org/officeDocument/2006/relationships/notesMaster" Target="/ppt/notesMasters/notesMaster1.xml" Id="R26bf4f28eed84b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6889453195472a" /><Relationship Type="http://schemas.openxmlformats.org/officeDocument/2006/relationships/notesMaster" Target="/ppt/notesMasters/notesMaster1.xml" Id="Rfc8e443e18c642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374bed4284a7f" /><Relationship Type="http://schemas.openxmlformats.org/officeDocument/2006/relationships/notesMaster" Target="/ppt/notesMasters/notesMaster1.xml" Id="R655be8bbdc3241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776202e53447ee" /><Relationship Type="http://schemas.openxmlformats.org/officeDocument/2006/relationships/notesMaster" Target="/ppt/notesMasters/notesMaster1.xml" Id="Rd91626a9228d49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8038f6bd94e39" /><Relationship Type="http://schemas.openxmlformats.org/officeDocument/2006/relationships/notesMaster" Target="/ppt/notesMasters/notesMaster1.xml" Id="Rda1b48548e2045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dizendo: eu desenvolvi o Portal de Oportunidades Favela Tech como projeto final do curso.</a:t>
            </a:r>
          </a:p>
          <a:p xmlns:a="http://schemas.openxmlformats.org/drawingml/2006/main">
            <a:r>
              <a:t>O foco do site é a ODS 8, que trata de trabalho decente e crescimento econômico.</a:t>
            </a:r>
          </a:p>
          <a:p xmlns:a="http://schemas.openxmlformats.org/drawingml/2006/main">
            <a:r>
              <a:t>A ideia é transformar um tema social em uma solução web funcional: jovens conseguem criar conta, montar currículo, buscar vagas, se candidatar e acompanhar tudo pelo perfil.</a:t>
            </a:r>
          </a:p>
          <a:p xmlns:a="http://schemas.openxmlformats.org/drawingml/2006/main">
            <a:r>
              <a:t>Também deixei o projeto com frontend, backend, banco de dados, APIs públicas e chatbot para cumprir os requisitos técnicos do desafio.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eu explico a motivação do projeto.</a:t>
            </a:r>
          </a:p>
          <a:p xmlns:a="http://schemas.openxmlformats.org/drawingml/2006/main">
            <a:r>
              <a:t>A proposta não parte da ideia de que falta capacidade nos jovens da comunidade. Pelo contrário: muitos já estudam, fazem cursos, têm interesse e querem trabalhar.</a:t>
            </a:r>
          </a:p>
          <a:p xmlns:a="http://schemas.openxmlformats.org/drawingml/2006/main">
            <a:r>
              <a:t>O problema é a distância entre esse talento e as oportunidades. As vagas ficam espalhadas, o currículo nem sempre está bem organizado e, depois de se candidatar, o jovem não tem uma área simples para acompanhar o que fez.</a:t>
            </a:r>
          </a:p>
          <a:p xmlns:a="http://schemas.openxmlformats.org/drawingml/2006/main">
            <a:r>
              <a:t>Por isso escolhi criar um portal que centraliza as etapas principais da jornada profissional.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visão da solução.</a:t>
            </a:r>
          </a:p>
          <a:p xmlns:a="http://schemas.openxmlformats.org/drawingml/2006/main">
            <a:r>
              <a:t>Eu organizei o site como uma jornada. Primeiro o usuário cria a conta. Depois ele completa o perfil e coloca dados que ajudam na identificação.</a:t>
            </a:r>
          </a:p>
          <a:p xmlns:a="http://schemas.openxmlformats.org/drawingml/2006/main">
            <a:r>
              <a:t>Na sequência, ele monta o currículo dentro do próprio site, com informações que podem ser reaproveitadas.</a:t>
            </a:r>
          </a:p>
          <a:p xmlns:a="http://schemas.openxmlformats.org/drawingml/2006/main">
            <a:r>
              <a:t>Depois vem a busca de vagas, com filtros e API. Por fim, ele se candidata e consegue acompanhar as candidaturas na área Minha conta.</a:t>
            </a:r>
          </a:p>
          <a:p xmlns:a="http://schemas.openxmlformats.org/drawingml/2006/main">
            <a:r>
              <a:t>Essa jornada ajuda o avaliador a perceber que o projeto não é só uma página bonita, mas um fluxo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é importante porque conecta diretamente o site aos critérios do projeto.</a:t>
            </a:r>
          </a:p>
          <a:p xmlns:a="http://schemas.openxmlformats.org/drawingml/2006/main">
            <a:r>
              <a:t>Eu implementei as páginas mínimas: Home, Sobre Nós, Contato, Login/Cadastro e Como Ajudar.</a:t>
            </a:r>
          </a:p>
          <a:p xmlns:a="http://schemas.openxmlformats.org/drawingml/2006/main">
            <a:r>
              <a:t>Também adicionei funcionalidades além do mínimo: perfil, currículo, candidaturas, recuperação de senha por código local, verificação de e-mail em ambiente local, chatbot mais conversável e integração com APIs públicas.</a:t>
            </a:r>
          </a:p>
          <a:p xmlns:a="http://schemas.openxmlformats.org/drawingml/2006/main">
            <a:r>
              <a:t>O projeto também está organizado em frontend e backend, com README e pasta pitch, que são entregas pedidas nas instruções gerais.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Neste ponto eu explico como desenvolvi tecnicamente.</a:t>
            </a:r>
          </a:p>
          <a:p xmlns:a="http://schemas.openxmlformats.org/drawingml/2006/main">
            <a:r>
              <a:t>Primeiro organizei a pasta do projeto separando frontend e backend. No frontend ficam HTML, CSS, JavaScript e imagens. No backend ficam server.js, rotas, controllers, configuração do banco e arquivos SQL.</a:t>
            </a:r>
          </a:p>
          <a:p xmlns:a="http://schemas.openxmlformats.org/drawingml/2006/main">
            <a:r>
              <a:t>Essa separação é importante porque o site não é só HTML estático: ele depende de uma API local para login, cadastro, currículo, candidaturas e vagas.</a:t>
            </a:r>
          </a:p>
          <a:p xmlns:a="http://schemas.openxmlformats.org/drawingml/2006/main">
            <a:r>
              <a:t>O Express recebe as requisições, chama os controllers e os controllers conversam com o MySQL usando mysql2.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eu explico o banco de dados.</a:t>
            </a:r>
          </a:p>
          <a:p xmlns:a="http://schemas.openxmlformats.org/drawingml/2006/main">
            <a:r>
              <a:t>Criei uma base MySQL chamada favela_tech. Nela ficam tabelas para usuários, currículos, vagas e candidaturas.</a:t>
            </a:r>
          </a:p>
          <a:p xmlns:a="http://schemas.openxmlformats.org/drawingml/2006/main">
            <a:r>
              <a:t>No cadastro, o backend recebe os dados, valida as informações e criptografa a senha com Bcrypt antes de salvar.</a:t>
            </a:r>
          </a:p>
          <a:p xmlns:a="http://schemas.openxmlformats.org/drawingml/2006/main">
            <a:r>
              <a:t>No login, o sistema compara a senha digitada com o hash salvo no banco. Isso é melhor do que guardar a senha original, porque protege o usuário.</a:t>
            </a:r>
          </a:p>
          <a:p xmlns:a="http://schemas.openxmlformats.org/drawingml/2006/main">
            <a:r>
              <a:t>Também implementei recuperação de senha com código temporário local. Em uma versão publicada, esse código seria enviado por e-mail, mas localmente ele aparece no modal ou no terminal para demonstrar a lógica.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Nesta parte eu mostro uma das áreas mais fortes do projeto: vagas e candidaturas.</a:t>
            </a:r>
          </a:p>
          <a:p xmlns:a="http://schemas.openxmlformats.org/drawingml/2006/main">
            <a:r>
              <a:t>A página de vagas tem busca por palavra-chave, filtros e cards com dados da oportunidade.</a:t>
            </a:r>
          </a:p>
          <a:p xmlns:a="http://schemas.openxmlformats.org/drawingml/2006/main">
            <a:r>
              <a:t>No backend, criei um controller de vagas que consulta a API pública Remotive. As vagas externas são normalizadas e salvas no MySQL com identificador externo, link original, salário, resumo e data de publicação quando existe.</a:t>
            </a:r>
          </a:p>
          <a:p xmlns:a="http://schemas.openxmlformats.org/drawingml/2006/main">
            <a:r>
              <a:t>Também deixei as vagas locais como fallback para o site não ficar vazio se a API estiver fora do ar.</a:t>
            </a:r>
          </a:p>
          <a:p xmlns:a="http://schemas.openxmlformats.org/drawingml/2006/main">
            <a:r>
              <a:t>A candidatura é salva no banco com usuário, vaga, data e status. Criei uma chave única para impedir candidatura duplicada.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eu explico o perfil e o currículo.</a:t>
            </a:r>
          </a:p>
          <a:p xmlns:a="http://schemas.openxmlformats.org/drawingml/2006/main">
            <a:r>
              <a:t>Quando o usuário está logado, o botão do topo leva para Minha conta. Dentro do perfil, ele consegue ver dados, adicionar telefone, endereço e foto.</a:t>
            </a:r>
          </a:p>
          <a:p xmlns:a="http://schemas.openxmlformats.org/drawingml/2006/main">
            <a:r>
              <a:t>Para o endereço, usei a API ViaCEP: a pessoa digita o CEP e o sistema preenche os dados automaticamente, o que melhora a experiência e reduz erro de digitação.</a:t>
            </a:r>
          </a:p>
          <a:p xmlns:a="http://schemas.openxmlformats.org/drawingml/2006/main">
            <a:r>
              <a:t>Também coloquei e-mail e telefone mascarados, porque sites reais normalmente não expõem dados sensíveis de cara.</a:t>
            </a:r>
          </a:p>
          <a:p xmlns:a="http://schemas.openxmlformats.org/drawingml/2006/main">
            <a:r>
              <a:t>Na parte do currículo, o usuário preenche objetivo, formação, experiências, cursos, habilidades, links e outras informações. Depois pode imprimir um modelo com visual próprio do Favela Tech.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Esse slide é sobre experiência, porque a avaliação também considera design e usabilidade.</a:t>
            </a:r>
          </a:p>
          <a:p xmlns:a="http://schemas.openxmlformats.org/drawingml/2006/main">
            <a:r>
              <a:t>No começo o chatbot era simples, então melhorei as respostas por intenção. Ele reconhece assuntos como vagas, currículo, login, perfil, candidaturas, contato e ODS 8.</a:t>
            </a:r>
          </a:p>
          <a:p xmlns:a="http://schemas.openxmlformats.org/drawingml/2006/main">
            <a:r>
              <a:t>Também adicionei atalhos de resposta, efeito de digitando e balão inicial para o usuário perceber que existe ajuda disponível.</a:t>
            </a:r>
          </a:p>
          <a:p xmlns:a="http://schemas.openxmlformats.org/drawingml/2006/main">
            <a:r>
              <a:t>Outra melhoria foi remover alerts padrão do navegador. No lugar, criei notificações do próprio site, mais bonitas e consistentes com a identidade visual.</a:t>
            </a:r>
          </a:p>
          <a:p xmlns:a="http://schemas.openxmlformats.org/drawingml/2006/main">
            <a:r>
              <a:t>Nas páginas, também troquei imagens repetidas por imagens mais coerentes com cada contexto.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eu mostro que pensei no projeto como se fosse um produto real.</a:t>
            </a:r>
          </a:p>
          <a:p xmlns:a="http://schemas.openxmlformats.org/drawingml/2006/main">
            <a:r>
              <a:t>No cadastro existe aceite de termos e LGPD. Isso é importante porque o site lida com informações pessoais, contato, endereço, currículo e candidaturas.</a:t>
            </a:r>
          </a:p>
          <a:p xmlns:a="http://schemas.openxmlformats.org/drawingml/2006/main">
            <a:r>
              <a:t>Usei Bcrypt para proteger senhas e evitei mostrar dados sensíveis completos na interface.</a:t>
            </a:r>
          </a:p>
          <a:p xmlns:a="http://schemas.openxmlformats.org/drawingml/2006/main">
            <a:r>
              <a:t>Também implementei verificação de e-mail e recuperação de senha de forma local. Como o projeto ainda não está publicado nem tem domínio próprio, a lógica aparece em modo apresentação: o link ou código fica disponível localmente para testar.</a:t>
            </a:r>
          </a:p>
          <a:p xmlns:a="http://schemas.openxmlformats.org/drawingml/2006/main">
            <a:r>
              <a:t>Na apresentação, eu preciso iniciar o MySQL e o backend Node. O site deve ser acessado pelo localhost:3000, porque login, cadastro e banco dependem da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slide de resultado.</a:t>
            </a:r>
          </a:p>
          <a:p xmlns:a="http://schemas.openxmlformats.org/drawingml/2006/main">
            <a:r>
              <a:t>O que eu quero mostrar é que o projeto saiu de uma ideia para um portal funcional.</a:t>
            </a:r>
          </a:p>
          <a:p xmlns:a="http://schemas.openxmlformats.org/drawingml/2006/main">
            <a:r>
              <a:t>Ele possui as páginas pedidas, fluxo de autenticação, banco de dados, currículo, candidaturas, API de vagas, API de CEP e chatbot.</a:t>
            </a:r>
          </a:p>
          <a:p xmlns:a="http://schemas.openxmlformats.org/drawingml/2006/main">
            <a:r>
              <a:t>Na apresentação, vale demonstrar a jornada ao vivo: abrir a home, fazer login, ir para vagas, pesquisar, candidatar-se e depois mostrar a candidatura no perfil.</a:t>
            </a:r>
          </a:p>
          <a:p xmlns:a="http://schemas.openxmlformats.org/drawingml/2006/main">
            <a:r>
              <a:t>Isso deixa claro que o projeto não é apenas visual, ele tem fluxo e persistência de 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Finalizar reforçando a mensagem principal.</a:t>
            </a:r>
          </a:p>
          <a:p xmlns:a="http://schemas.openxmlformats.org/drawingml/2006/main">
            <a:r>
              <a:t>O Favela Tech junta impacto social e tecnologia. Ele foi construído para resolver um problema real: aproximar jovens talentos de oportunidades.</a:t>
            </a:r>
          </a:p>
          <a:p xmlns:a="http://schemas.openxmlformats.org/drawingml/2006/main">
            <a:r>
              <a:t>Como próximos passos, eu evoluiria o envio real de e-mails, a integração com plataformas de vagas e a recomendação automática.</a:t>
            </a:r>
          </a:p>
          <a:p xmlns:a="http://schemas.openxmlformats.org/drawingml/2006/main">
            <a:r>
              <a:t>Também destacaria que o projeto é educacional, mas foi pensado com lógica de produto real: dados persistidos, rotas, autenticação, segurança e experiência de uso.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b021600ea4a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04554caf548a8" /><Relationship Type="http://schemas.openxmlformats.org/officeDocument/2006/relationships/slideLayout" Target="/ppt/slideLayouts/slideLayout1.xml" Id="R7fdffca550d74f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ffca550d74f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9a91c064469e" /><Relationship Type="http://schemas.openxmlformats.org/officeDocument/2006/relationships/image" Target="/ppt/media/image.png" Id="Rb020a0d823ba408f" /><Relationship Type="http://schemas.openxmlformats.org/officeDocument/2006/relationships/notesSlide" Target="/ppt/notesSlides/notesSlide1.xml" Id="Rae91e352924142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396731aef4717" /><Relationship Type="http://schemas.openxmlformats.org/officeDocument/2006/relationships/image" Target="/ppt/media/image2.png" Id="Re94e1857f2514a4e" /><Relationship Type="http://schemas.openxmlformats.org/officeDocument/2006/relationships/notesSlide" Target="/ppt/notesSlides/notesSlide2.xml" Id="Rc0d041c2facb4a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3627ee3d74ae1" /><Relationship Type="http://schemas.openxmlformats.org/officeDocument/2006/relationships/notesSlide" Target="/ppt/notesSlides/notesSlide3.xml" Id="R329e28424ad547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a8b78d3824e6e" /><Relationship Type="http://schemas.openxmlformats.org/officeDocument/2006/relationships/notesSlide" Target="/ppt/notesSlides/notesSlide4.xml" Id="Re6ae45a152134f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f7d217c3541c9" /><Relationship Type="http://schemas.openxmlformats.org/officeDocument/2006/relationships/notesSlide" Target="/ppt/notesSlides/notesSlide5.xml" Id="R1abdf896495844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3bb5a833b46d8" /><Relationship Type="http://schemas.openxmlformats.org/officeDocument/2006/relationships/notesSlide" Target="/ppt/notesSlides/notesSlide6.xml" Id="R3d8d938f72bb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761424290435c" /><Relationship Type="http://schemas.openxmlformats.org/officeDocument/2006/relationships/image" Target="/ppt/media/image3.png" Id="R2cbe418e2c1a4b21" /><Relationship Type="http://schemas.openxmlformats.org/officeDocument/2006/relationships/notesSlide" Target="/ppt/notesSlides/notesSlide7.xml" Id="Rc4a125ceb7334d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343cf1ceb48da" /><Relationship Type="http://schemas.openxmlformats.org/officeDocument/2006/relationships/image" Target="/ppt/media/image4.png" Id="Rf60e5a10a9ea4a3a" /><Relationship Type="http://schemas.openxmlformats.org/officeDocument/2006/relationships/notesSlide" Target="/ppt/notesSlides/notesSlide8.xml" Id="Rbd848659f8da41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60ceed9da4618" /><Relationship Type="http://schemas.openxmlformats.org/officeDocument/2006/relationships/image" Target="/ppt/media/image5.png" Id="R6a53ada5ed3d4cb0" /><Relationship Type="http://schemas.openxmlformats.org/officeDocument/2006/relationships/notesSlide" Target="/ppt/notesSlides/notesSlide9.xml" Id="R6a700e3eceb84c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b4c315ce047b5" /><Relationship Type="http://schemas.openxmlformats.org/officeDocument/2006/relationships/notesSlide" Target="/ppt/notesSlides/notesSlide10.xml" Id="R9b1dc4fe6cfa4a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9e265dc44934" /><Relationship Type="http://schemas.openxmlformats.org/officeDocument/2006/relationships/notesSlide" Target="/ppt/notesSlides/notesSlide11.xml" Id="Ra16fcb7a653845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561bdd8bf4515" /><Relationship Type="http://schemas.openxmlformats.org/officeDocument/2006/relationships/image" Target="/ppt/media/image6.png" Id="R071d9b6488e04bbc" /><Relationship Type="http://schemas.openxmlformats.org/officeDocument/2006/relationships/notesSlide" Target="/ppt/notesSlides/notesSlide12.xml" Id="R1cde7a1cedef4a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0a0d823ba408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4EA5E-C87C-4AB8-829D-93345CC9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B3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C7261-87F4-4794-967A-5E74FE0E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B4B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BBB5B-4EFC-412B-8E32-BD590DDD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B5FD"/>
                </a:solidFill>
              </a:defRPr>
            </a:pPr>
            <a:r>
              <a:rPr sz="1500" b="1">
                <a:solidFill>
                  <a:srgbClr val="C4B5FD"/>
                </a:solidFill>
              </a:rPr>
              <a:t>Portal de Oportunidades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A9DB7-832A-4F0A-AE4D-F0C82C9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Favela Tech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EB733-91B3-4B67-9810-A658F326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E9FE"/>
                </a:solidFill>
              </a:defRPr>
            </a:pPr>
            <a:r>
              <a:rPr sz="1800" b="0">
                <a:solidFill>
                  <a:srgbClr val="EDE9FE"/>
                </a:solidFill>
              </a:rPr>
              <a:t>Um site responsivo para conectar jovens talentos da comunidade a vagas, currículos, empresas e orientação profissional.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299DB-E19A-407D-8417-F50B78D4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AF617-E681-44A7-8D68-5F97C82B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C1D95"/>
                </a:solidFill>
              </a:defRPr>
            </a:pPr>
            <a:r>
              <a:rPr sz="1050" b="1">
                <a:solidFill>
                  <a:srgbClr val="4C1D95"/>
                </a:solidFill>
              </a:rPr>
              <a:t>ODS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6F198-8B15-42E4-9F06-9512AD68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481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EEF93-892B-4C35-9F8C-CDB900C5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1065"/>
                </a:solidFill>
              </a:defRPr>
            </a:pPr>
            <a:r>
              <a:rPr sz="1050" b="1">
                <a:solidFill>
                  <a:srgbClr val="2E1065"/>
                </a:solidFill>
              </a:rPr>
              <a:t>HTML + CSS + 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CC539-DD75-4829-9667-E23A39EB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481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27069-0A28-4F49-8502-B0861913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14775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1065"/>
                </a:solidFill>
              </a:defRPr>
            </a:pPr>
            <a:r>
              <a:rPr sz="1050" b="1">
                <a:solidFill>
                  <a:srgbClr val="2E1065"/>
                </a:solidFill>
              </a:rPr>
              <a:t>Node +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204A1-778D-4F99-B3C7-DBD2A3E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Victor Hugor de Souza Lopes</a:t>
            </a:r>
          </a:p>
        </p:txBody>
      </p:sp>
    </p:spTree>
    <p:extLst>
      <p:ext uri="{BB962C8B-B14F-4D97-AF65-F5344CB8AC3E}">
        <p14:creationId xmlns:p14="http://schemas.microsoft.com/office/powerpoint/2010/main" val="778097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569BD7-8AFA-4E85-ABD8-0126BAB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B0DF4-096D-4C49-ADDF-DB90648F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56975-B789-427B-8692-374D431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Motivação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9AAB2-7580-45BE-9F66-C9E39C85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O talento existe; falta uma ponte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45DE8-0A31-4896-8BB2-A0EFE6B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Muitos jovens já têm vontade, cursos e habilidades, mas não encontram um caminho simples para serem vistos por empresas.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A98E8-402F-4B1F-B129-8217BEAC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AAF28-7F67-46CF-9F8B-200C60D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24125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Oportunidades ficam espalhadas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3E177-8046-4D71-85E4-C507540A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003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Vagas aparecem em plataformas diferentes, grupos, indicações e redes sociais.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33815-AF5C-4066-BC7B-6CB7392C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D7A62-FFFF-4BCD-8E17-B9AF292A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Currículo ainda é uma barreira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2F97D-0A98-4947-9B77-48CCF1A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Muita gente não sabe como organizar experiências, cursos e habilidades.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DC112-A324-4F8B-8730-5CDAD6A4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5D09B-144F-4607-B294-C5FA2BF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71925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Acompanhamento é confuso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CEDFE-8658-4B4D-85D8-97BC052C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Depois da candidatura, é fácil perder empresa, data e status.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0CE61-3BA3-4BF8-814A-6C15549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1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EA60D-33B4-4E66-AEBA-042BA8AD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5825"/>
            <a:ext cx="5581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Empresas não enxergam todos os talentos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63E6B-842E-472B-A95F-F776A8D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O portal cria um ponto de encontro entre perfil, currículo e vaga.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e1857f2514a4e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1811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00213-3B81-4099-A42D-B603AC7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71550"/>
            <a:ext cx="76200" cy="451485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0448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79247B-BF62-4544-88DC-6ED2D67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1F505-5FDA-45DB-B73C-FA709A6F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EC2F3-0767-4E27-8F76-3AD8605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Solução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8BEE3-F02D-4464-BAD8-5892D43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A jornada foi pensada para ir do cadastro à candidatura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A8E3A-E994-45E6-A30E-A9AB1260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O usuário começa criando uma conta, organiza seus dados e usa o portal para buscar oportunidades.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7FB80-66A2-4BA4-B449-7218F3E2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924050" cy="2324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3F62A-0A29-4A7F-A621-22FD6B69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22FB6-3667-4E35-9064-47C3D46F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2F"/>
                </a:solidFill>
              </a:defRPr>
            </a:pPr>
            <a:r>
              <a:rPr sz="1650" b="1">
                <a:solidFill>
                  <a:srgbClr val="17132F"/>
                </a:solidFill>
              </a:rPr>
              <a:t>Criar conta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D3801-B8B4-4BB2-88DE-F1176B2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54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Cadastro com nome, e-mail, senha criptografada, aceite de termos e perfil básico.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0D8F9-D378-451C-A263-56622CB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1924050" cy="2324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DC038-13E4-4156-8254-11398F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3F626-0BFD-4B60-9587-ED582A57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2F"/>
                </a:solidFill>
              </a:defRPr>
            </a:pPr>
            <a:r>
              <a:rPr sz="1650" b="1">
                <a:solidFill>
                  <a:srgbClr val="17132F"/>
                </a:solidFill>
              </a:rPr>
              <a:t>Completar perfil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C32DA-BB80-4157-80B8-6713104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81450"/>
            <a:ext cx="154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Foto, telefone, endereço com CEP via API e dados profissionais.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BFC08-0189-401F-AC12-3E84532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1300"/>
            <a:ext cx="1924050" cy="2324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0D18F-3548-4A6E-B9B8-4104659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BD01D-F2A4-4B4C-AEF7-740E2405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2F"/>
                </a:solidFill>
              </a:defRPr>
            </a:pPr>
            <a:r>
              <a:rPr sz="1650" b="1">
                <a:solidFill>
                  <a:srgbClr val="17132F"/>
                </a:solidFill>
              </a:rPr>
              <a:t>Montar currículo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3F34C-466A-41B0-9FFA-6533AD1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81450"/>
            <a:ext cx="154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Formação, experiências, cursos, habilidades e modelo pronto para impressão.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30913-7753-4E37-9B6F-F931849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1924050" cy="2324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2F375-C1D8-4648-A019-B37D202A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38844-9B34-4A94-AECB-96E70417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2F"/>
                </a:solidFill>
              </a:defRPr>
            </a:pPr>
            <a:r>
              <a:rPr sz="1650" b="1">
                <a:solidFill>
                  <a:srgbClr val="17132F"/>
                </a:solidFill>
              </a:rPr>
              <a:t>Buscar vaga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5C9D2-F071-41D9-959A-0CC5A24A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154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Filtros, busca por palavra-chave, vagas locais e vagas reais via API pública.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2F67CF-194A-44BD-A432-6EC066D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924050" cy="2324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25C03-ABB0-4C7F-994D-E7C7F689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718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</a:defRPr>
            </a:pPr>
            <a:r>
              <a:rPr sz="2250" b="1">
                <a:solidFill>
                  <a:srgbClr val="7C3AED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AE6B61-EB89-492F-B7B1-02916B84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32F"/>
                </a:solidFill>
              </a:defRPr>
            </a:pPr>
            <a:r>
              <a:rPr sz="1650" b="1">
                <a:solidFill>
                  <a:srgbClr val="17132F"/>
                </a:solidFill>
              </a:rPr>
              <a:t>Candidatar-se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BE801-0717-4A08-B546-DF8E399A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1543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Candidatura salva no MySQL, com bloqueio de duplicidade e status no perfil.</a:t>
            </a:r>
          </a:p>
        </p:txBody>
      </p:sp>
    </p:spTree>
    <p:extLst>
      <p:ext uri="{BB962C8B-B14F-4D97-AF65-F5344CB8AC3E}">
        <p14:creationId xmlns:p14="http://schemas.microsoft.com/office/powerpoint/2010/main" val="228157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249E1-86C0-4E0D-97B4-78CE07A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0574D-5AE0-4D5F-AAF8-42428FA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1F844-B30F-4DF0-9FEE-BF1A1B75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Requisitos do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C2E53-8BDB-4119-A74D-C1E89B6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O projeto cobre os principais elementos pedidos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61D1F-F0DC-4A59-8864-344456FC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Além das páginas obrigatórias, o site usa banco, APIs, chatbot e área autenticada.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BF883-6ECD-4105-81FD-F82EAB66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A5D57-1CDB-451E-BEF5-207EF8F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0232B-63C7-4B3B-8EEF-5F179B08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Página inicial com apresentação, ODS 8, chamadas para currículo e vagas.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F2057-1750-4AF1-8C45-43AF927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E99A7-BA1F-4F40-B7CF-29BF3277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Sobre Nós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9B9BB-887B-4641-B576-2ADDF51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Missão, valores, história do projeto e contexto do desenvolvedor.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77298-8C84-41AF-8167-C943DE8A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48A89-A13A-46F7-B57B-0323FD9F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Contato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72B50-2920-458F-A3EF-CCFF9FA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Formulário, canais de atendimento e mensagem alinhada ao portal.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918CE-07D7-4121-9E3F-22EA388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053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1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2D440-3D92-49EC-A95E-4FDC4260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67225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Como Ajudar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40FC4-33AE-4327-99AD-86319D00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Ações práticas, mentoria, divulgação, ONGs e compartilhamento.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1B8AD-900F-404F-9056-FF4B2C0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6291-BFD6-4238-AC8A-7A2B9A3D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Login/Cadastro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701D4-3378-4B1D-A78B-ACB340D3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5747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Conta com senha criptografada, termos/LGPD, verificação e recuperação local.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DA9AE-8118-493C-AA75-EE5490E7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274713-BCA2-4FD4-8E78-6DFF16C1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76575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Área restrita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08064E-D7CA-4954-930A-9B9CA491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528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Perfil, foto, telefone/e-mail mascarados, endereço, currículo e candidaturas.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028BD-4CDA-4746-BF38-EA0BE351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212C6-B804-402F-899C-CE5505CF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APIs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CD7DE-406E-42E6-85B4-A76EDB4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ViaCEP para endereço e Remotive para vagas reais remotas.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5A71D-3448-48B3-9209-F70D616C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53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1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E8F7C-3B66-465A-A669-DC3A60A5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67225"/>
            <a:ext cx="4438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Chatbot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8F0C7-6BEF-4E9F-9CD7-92D3918F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434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Assistente em todas as páginas com respostas, atalhos e efeito digitando.</a:t>
            </a:r>
          </a:p>
        </p:txBody>
      </p:sp>
    </p:spTree>
    <p:extLst>
      <p:ext uri="{BB962C8B-B14F-4D97-AF65-F5344CB8AC3E}">
        <p14:creationId xmlns:p14="http://schemas.microsoft.com/office/powerpoint/2010/main" val="1402596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3922B-0CB6-4FAE-8339-C71D460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5CD3A-1DB0-4A72-93FA-78FD67ED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4FFE9-B193-40F8-A7A8-A7591F95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Desenvolvimento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9C653-CFEC-4DF3-B820-93AF0E7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Separei o projeto em frontend, backend e banco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FB47-D3EE-400C-A134-05B0BCAC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Essa organização deixa o código mais profissional e facilita explicar cada responsabilidade.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BB27B-4F52-4570-A4C1-6C55B41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1C5FB-D1C7-41A8-A2DF-316582DB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1D95"/>
                </a:solidFill>
              </a:defRPr>
            </a:pPr>
            <a:r>
              <a:rPr sz="1875" b="1">
                <a:solidFill>
                  <a:srgbClr val="4C1D95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41E55-DC25-4E2E-92D5-07D5924B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HTML, CSS e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09533-04D9-4875-A2A1-61E8A7F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Páginas, responsividade, animações, chatbot, formulários, notificações e consumo das rotas.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01B64-BF12-4900-84FE-988FE291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19350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4484C-0950-40E4-9DE3-D8ED66C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1D95"/>
                </a:solidFill>
              </a:defRPr>
            </a:pPr>
            <a:r>
              <a:rPr sz="1875" b="1">
                <a:solidFill>
                  <a:srgbClr val="4C1D95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B6702-7421-4C66-A793-3F62C28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Node.js + Express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BDAE7-2797-4F61-BE92-2F27439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Servidor local, rotas REST, controllers, validações, autenticação e integração com MySQL.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E4D41-CCAE-446E-9836-3A9A3A4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4263B-E89E-4749-B2D7-82A66B9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1D95"/>
                </a:solidFill>
              </a:defRPr>
            </a:pPr>
            <a:r>
              <a:rPr sz="1875" b="1">
                <a:solidFill>
                  <a:srgbClr val="4C1D95"/>
                </a:solidFill>
              </a:rPr>
              <a:t>Banco de 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78C42-68A4-4320-BF23-A7E10403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138E9-A154-4B8F-B206-739B2D26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Usuários, currículos, candidaturas, vagas locais/externas, endereço e tokens de segurança.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55C25-B6A0-4A6C-9CA5-6ADE354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19350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CA895-7788-4F0D-9CEF-37870C2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1D95"/>
                </a:solidFill>
              </a:defRPr>
            </a:pPr>
            <a:r>
              <a:rPr sz="1875" b="1">
                <a:solidFill>
                  <a:srgbClr val="4C1D95"/>
                </a:solidFill>
              </a:rPr>
              <a:t>APIs externas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89CFD-9C71-4E9D-9DBF-6021333F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</a:defRPr>
            </a:pPr>
            <a:r>
              <a:rPr sz="1275" b="1">
                <a:solidFill>
                  <a:srgbClr val="16A34A"/>
                </a:solidFill>
              </a:rPr>
              <a:t>ViaCEP + Remotive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968C3-BF81-4592-A628-35842FC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857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CEP preenchido automaticamente e vagas reais buscadas por API pública.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A60E4-0701-4B86-82AB-BC5297C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132F"/>
                </a:solidFill>
              </a:defRPr>
            </a:pPr>
            <a:r>
              <a:rPr sz="1500" b="0">
                <a:solidFill>
                  <a:srgbClr val="17132F"/>
                </a:solidFill>
              </a:rPr>
              <a:t>Estrutura principal: frontend/ para a interface e backend/ para servidor, rotas, controllers, config e scripts SQL.</a:t>
            </a:r>
          </a:p>
        </p:txBody>
      </p:sp>
    </p:spTree>
    <p:extLst>
      <p:ext uri="{BB962C8B-B14F-4D97-AF65-F5344CB8AC3E}">
        <p14:creationId xmlns:p14="http://schemas.microsoft.com/office/powerpoint/2010/main" val="1590453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FED444-9B4D-4547-B859-80C3488C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D27BA-40D1-44E2-8B52-44332B1A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7B8BE-290B-4AF6-96B6-16BFFD57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Banco de dados e autenticação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0A806-0210-404C-8A58-6F9FC2C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Os dados principais são persistidos no MySQL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CD4E9-A8FB-4891-BB48-28E7CAA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Usei senha criptografada, perfil autenticado, recuperação de acesso e estrutura preparada para crescer.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62D98-66FF-401A-96AF-4EEBDE47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33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7D30A-E95B-45C9-8737-F1872B3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C3AED"/>
                </a:solidFill>
              </a:defRPr>
            </a:pPr>
            <a:r>
              <a:rPr sz="2700" b="1">
                <a:solidFill>
                  <a:srgbClr val="7C3AED"/>
                </a:solidFill>
              </a:rPr>
              <a:t>usuarios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ED2A5-8800-4FA9-B62A-447CD00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contas, senha hash, foto, contato, endereço e 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F8E33-23E0-47EB-9C33-ED90108C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33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A7F9E-4EE5-469F-8642-F0E522BF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A34A"/>
                </a:solidFill>
              </a:defRPr>
            </a:pPr>
            <a:r>
              <a:rPr sz="2325" b="1">
                <a:solidFill>
                  <a:srgbClr val="16A34A"/>
                </a:solidFill>
              </a:rPr>
              <a:t>curriculos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ED56C-6E49-4D2E-9EC4-AA0AD34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formação, experiências, cursos, habilidades e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B467E-8E89-4F25-89D1-ED92700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2333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F8D9E-78A6-4223-82DC-22F0B85E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vagas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3E663-1A69-4BC2-AF00-5CFAB44D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vagas locais e externas vindas da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13840-ABD8-4D0D-8F3C-FD4C57BD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333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84853-F547-436F-97D8-98659535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C1D95"/>
                </a:solidFill>
              </a:defRPr>
            </a:pPr>
            <a:r>
              <a:rPr sz="2325" b="1">
                <a:solidFill>
                  <a:srgbClr val="4C1D95"/>
                </a:solidFill>
              </a:rPr>
              <a:t>candidaturas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C5467-51FB-4BF7-8453-68CD977B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usuário + vaga + data + status, sem duplicar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47B59-EB96-4928-82AB-75A6ED2D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E5D56-B6D3-4448-83FE-904D6632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920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Login e cadastro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17084-B65B-47E3-8522-860ABF3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4817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O usuário entra com e-mail e senha; o backend valida e devolve dados públicos para a sessão.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EEA03-2178-45A3-878D-64C3DD4B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31F81-ECDF-4288-AD64-C90ADB9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920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Bcrypt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0DC58-30A9-428C-89C7-CCC6BDC1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A senha não é salva em texto puro. O banco guarda apenas o hash.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94129-E8D4-4356-8177-FB557535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EC409-C073-437F-BC73-0342117D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76850"/>
            <a:ext cx="920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Recuperação por código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88204-EA61-43FD-A41F-542AB455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5307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Em ambiente local, o sistema gera um código temporário para provar a lógica de redefinição.</a:t>
            </a:r>
          </a:p>
        </p:txBody>
      </p:sp>
    </p:spTree>
    <p:extLst>
      <p:ext uri="{BB962C8B-B14F-4D97-AF65-F5344CB8AC3E}">
        <p14:creationId xmlns:p14="http://schemas.microsoft.com/office/powerpoint/2010/main" val="1769313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5373E-559C-4B75-9AB4-CF229E33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EBFDA-8A71-4B46-973E-0D97A50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AFF53-0040-4A91-BA6D-90C06FE1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Vagas reais e candidaturas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465F4-204D-41FA-8137-6E74E83B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Vagas reais com busca, API e controle no banco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54A09-68FE-43E9-8EED-A502E27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O usuário vê vagas, filtra por interesse, abre a origem e registra candidatura no perfil.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e418e2c1a4b21"/>
          <a:srcRect xmlns:a="http://schemas.openxmlformats.org/drawingml/2006/main" l="2957" t="0" r="29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04950"/>
            <a:ext cx="4171950" cy="2495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AEACA-2A5D-480F-B0D0-02B3789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A4A0C-06E7-4E73-AB0F-C37B733B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86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Busca em tempo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9F522-DEB1-4B42-9A5A-A23502C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486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Ao digitar palavra-chave, os resultados já mudam, mas o botão continua para reforçar a 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8EEC1-0D51-4712-BE14-59EB188A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B9BF9-9D7B-45E3-A44B-2703DBE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486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API Remotive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AAF4D-FDAD-48C3-ADB8-63FC3EA5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86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O backend busca vagas remotas reais e salva/atualiza dados externos no MySQL.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02668-B105-4DA4-AF63-65EBEADE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450C0-537B-433F-9EA6-AFC3FF49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486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Fallback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719C6-774A-4AFB-9AD5-AC9524F6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486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Se a API falhar ou for desativada, as vagas do banco continuam disponíveis.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10F16-164D-4CD7-8D5E-D6622B8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1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9F806-7538-441A-8419-34E9888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4867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Candidatura única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5F3BF-1508-4C4F-AEB2-D737DDC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486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A tabela de candidaturas impede que o mesmo usuário se candidate duas vezes à mesma vaga.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00B25-21D2-4257-9501-F98FE10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1065"/>
                </a:solidFill>
              </a:defRPr>
            </a:pPr>
            <a:r>
              <a:rPr sz="1800" b="1">
                <a:solidFill>
                  <a:srgbClr val="2E1065"/>
                </a:solidFill>
              </a:rPr>
              <a:t>No perfil, o usuário vê vaga, empresa, data e status.</a:t>
            </a:r>
          </a:p>
        </p:txBody>
      </p:sp>
    </p:spTree>
    <p:extLst>
      <p:ext uri="{BB962C8B-B14F-4D97-AF65-F5344CB8AC3E}">
        <p14:creationId xmlns:p14="http://schemas.microsoft.com/office/powerpoint/2010/main" val="1240706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077C0-8D97-4F80-9F54-A0375AD7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02526-8EA5-4D94-8D47-1BBCFE84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35932-2EB4-4B01-8587-23B5AAA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Perfil e currículo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07AD9-D0B8-49D7-8E45-8D9C0E3F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A área restrita transforma cadastro em histórico profissional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750A3-E2D4-424C-A3CC-8419F7B6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Depois do login, o usuário acessa Minha conta, atualiza dados e mantém o currículo pronto.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5a10a9ea4a3a"/>
          <a:srcRect xmlns:a="http://schemas.openxmlformats.org/drawingml/2006/main" l="8561" t="0" r="8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286000"/>
            <a:ext cx="4095750" cy="278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3D42F-FBE1-410E-8240-390791F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05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2AF59-33F4-48E1-988E-115EB0FE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Dados do perfil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E7BD7-7528-4E22-8CC3-33C6DC15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431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Nome, foto, telefone, e-mail, endereço e informações básicas.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0968F-E979-4C01-856B-68F9CA5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718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E8D25-AE6C-4966-BF56-0D82E8E7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33700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ViaCEP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A8904-3D96-4076-850A-26D62CAF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0992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Ao informar o CEP, o site busca rua, bairro, cidade e estado automaticamente.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A4AFF-5584-45B8-A693-88177544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85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14325-2229-45C0-9F76-4E78F5CE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00450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Privacidade visual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F8C1E-FBA9-4722-A3C0-B66B1CE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7667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Telefone e e-mail aparecem mascarados, e alterações sensíveis pedem confirmação.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A1B54-8E0E-4CB2-AFA9-26AC2994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053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1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39F4D-DF74-4806-A200-1947039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Currículo imprimível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E8377-75F5-4A6D-8732-C44B5330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43425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O site gera um modelo com layout próprio para impressão e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72437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27D42-A86C-4AE3-97E4-EC9E0B45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2DDA6-9E06-4963-9ABF-22367399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5001C-C243-4086-8034-038B4CD0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Experiência do usuário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B477C-D7CF-47D2-AEFD-E5C2EE1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O site usa microinterações para parecer produto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CEFA1-E506-469F-AA60-BC5FCC6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Troquei alerts do navegador por notificações do site e deixei o chatbot mais conversável.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DA1FD-3426-43BC-843A-7899719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1E0F5-8349-4297-AF02-554B784E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1D95"/>
                </a:solidFill>
              </a:defRPr>
            </a:pPr>
            <a:r>
              <a:rPr sz="1575" b="1">
                <a:solidFill>
                  <a:srgbClr val="4C1D95"/>
                </a:solidFill>
              </a:rPr>
              <a:t>Chatbot em todas as páginas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C41AB-C83B-46B7-BF53-31930688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Responde sobre vagas, currículo, login, perfil, candidaturas e ODS 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46425-4073-4BDC-A281-23328B3B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989F9-F79F-4D5D-AFB1-1F35500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1D95"/>
                </a:solidFill>
              </a:defRPr>
            </a:pPr>
            <a:r>
              <a:rPr sz="1575" b="1">
                <a:solidFill>
                  <a:srgbClr val="4C1D95"/>
                </a:solidFill>
              </a:rPr>
              <a:t>Efeito digitando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88451-959D-4A3A-A144-8A6E371E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Antes de responder, o assistente mostra animação curta para parecer mais natural.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3D4B-60B0-4C9F-B036-38034CCD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B8FD5-F44F-46A3-AF4F-E798E435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1D95"/>
                </a:solidFill>
              </a:defRPr>
            </a:pPr>
            <a:r>
              <a:rPr sz="1575" b="1">
                <a:solidFill>
                  <a:srgbClr val="4C1D95"/>
                </a:solidFill>
              </a:rPr>
              <a:t>Convite inicial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45DF1-5FD1-44DB-B02E-AA1894C8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57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Ao entrar no site, aparece um balão simples perguntando se o usuário precisa de ajuda.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62228-E9E7-4D1A-920D-A86666C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E8CE0-A0D6-4D93-884B-F4F2042F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1D95"/>
                </a:solidFill>
              </a:defRPr>
            </a:pPr>
            <a:r>
              <a:rPr sz="1575" b="1">
                <a:solidFill>
                  <a:srgbClr val="4C1D95"/>
                </a:solidFill>
              </a:rPr>
              <a:t>Toasts próprios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708F4-31DA-47D3-A490-6F96013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43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Login, logout, candidatura, recuperação de senha e erros aparecem em caixas do próprio site.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D61C5-EFAC-4324-A0EF-319F100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50B6B-4F6F-4A93-926A-7510C587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C1D95"/>
                </a:solidFill>
              </a:defRPr>
            </a:pPr>
            <a:r>
              <a:rPr sz="1575" b="1">
                <a:solidFill>
                  <a:srgbClr val="4C1D95"/>
                </a:solidFill>
              </a:rPr>
              <a:t>Visual mais maduro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5CF06-7DBB-4DAE-9928-BDCD3871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2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56F"/>
                </a:solidFill>
              </a:defRPr>
            </a:pPr>
            <a:r>
              <a:rPr sz="1275" b="0">
                <a:solidFill>
                  <a:srgbClr val="5B556F"/>
                </a:solidFill>
              </a:rPr>
              <a:t>Imagens realistas por página, roxo concentrado no layout e textos com cara de produto real.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3ada5ed3d4c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1300" y="2514600"/>
            <a:ext cx="800100" cy="80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60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50EFC-75AB-45A5-A116-5E9194C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90A26-DE23-4F24-A505-4EC660E7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99AA1-91D1-40E6-BBE9-E9194446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Responsabilidade e confiança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0F4DC-34E4-45FF-8206-62AABBA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A lógica foi construída pensando em dados reais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43492-E38C-42A0-A2EE-F8401943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Mesmo sendo um projeto local, tratei conta, senha e privacidade como parte do produto.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69566-492B-4290-AD30-C037B400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B7A03-0035-4C68-B9B3-F65ADC5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0"/>
            <a:ext cx="977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Termos e LGPD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0C6D9-3648-4F2B-9480-01FB302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62225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O cadastro exige aceite de uso responsável e explica quais dados podem ser tratados.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77B93-CD22-42C1-8985-6F81E54E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563E6-B9A0-4F64-A6E8-ADE6A6B9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977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Senha protegida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CF8F2-9E69-4A34-80BC-31BF8BB0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Bcrypt protege a senha armazenada; o banco não recebe senha em texto puro.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B5AE5-9556-4F57-999F-3112B17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89E45-2411-406C-A27E-D9A646B7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977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Dados sensíveis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EA8C0-CE40-4E1B-B5BB-DAE0220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E-mail e telefone ficam parcialmente censurados no perfil.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D3B6B-24B9-4A5F-9816-18826338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1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CDA03-00CE-46B0-999F-94BD83C4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77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Verificação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0C999-3587-4358-B82D-CE0993E4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48175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E-mail e recuperação de senha foram preparados com token/código local para demonstrar a regra.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5A513-EC1A-449B-91DB-ECF588EA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4E40B-C6EB-4188-99AA-CBABA1AD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77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Ambiente de apresentação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5E450-869B-4099-AFC7-37AE6F0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Para demonstrar, inicio MySQL, backend Node e acesso o site pelo localhost:3000.</a:t>
            </a:r>
          </a:p>
        </p:txBody>
      </p:sp>
    </p:spTree>
    <p:extLst>
      <p:ext uri="{BB962C8B-B14F-4D97-AF65-F5344CB8AC3E}">
        <p14:creationId xmlns:p14="http://schemas.microsoft.com/office/powerpoint/2010/main" val="1616451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A4833-E8D4-42A2-93CE-D5FAE58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1D95"/>
                </a:solidFill>
              </a:defRPr>
            </a:pPr>
            <a:r>
              <a:rPr sz="1125" b="1">
                <a:solidFill>
                  <a:srgbClr val="4C1D95"/>
                </a:solidFill>
              </a:rPr>
              <a:t>Favela Tech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90896-B2F5-4672-84D3-4DBFB53C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556F"/>
                </a:solidFill>
              </a:defRPr>
            </a:pPr>
            <a:r>
              <a:rPr sz="1125" b="1">
                <a:solidFill>
                  <a:srgbClr val="5B556F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1A7BA-A982-4B21-AAFD-CA46C7F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A7B7-B17E-4B9C-A452-0D37EE2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32F"/>
                </a:solidFill>
              </a:defRPr>
            </a:pPr>
            <a:r>
              <a:rPr sz="3150" b="1">
                <a:solidFill>
                  <a:srgbClr val="17132F"/>
                </a:solidFill>
              </a:rPr>
              <a:t>O protótipo já funciona como um portal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AB847-B0C2-46A2-9B76-B0E117F5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56F"/>
                </a:solidFill>
              </a:defRPr>
            </a:pPr>
            <a:r>
              <a:rPr sz="1425" b="0">
                <a:solidFill>
                  <a:srgbClr val="5B556F"/>
                </a:solidFill>
              </a:rPr>
              <a:t>A entrega une páginas obrigatórias, funcionalidades reais e estrutura pronta para expansão.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3CD70-7A92-4427-8AA6-59E27E39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428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595EA-1DCA-453B-92E2-316C0C1A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C3AED"/>
                </a:solidFill>
              </a:defRPr>
            </a:pPr>
            <a:r>
              <a:rPr sz="2700" b="1">
                <a:solidFill>
                  <a:srgbClr val="7C3AED"/>
                </a:solidFill>
              </a:rPr>
              <a:t>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67388-6515-488A-8F0C-A82C14A1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páginas principais: home, sobre, vagas, login, perfil, currículo, contato e ajudar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F94C8-FD55-4C89-97B4-DBB33129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428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91E8D-9331-414C-95EB-5BD47088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A34A"/>
                </a:solidFill>
              </a:defRPr>
            </a:pPr>
            <a:r>
              <a:rPr sz="2700" b="1">
                <a:solidFill>
                  <a:srgbClr val="16A34A"/>
                </a:solidFill>
              </a:rPr>
              <a:t>2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A5A39-932F-40F5-B908-7A9C467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ViaCEP para endereço e Remotive para vagas reais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4A573-1DEE-4894-BA42-9CBD40E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428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5B379-0158-4D57-ABCC-E337E81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4 rotas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8DB55-5D39-448A-94FB-5864751E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auth, vagas, currículos e candidaturas no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AC181-5B8B-4FCF-99AE-8CF664D5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428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0271E-D5D0-43C5-9D29-21FD1A33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2085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C1D95"/>
                </a:solidFill>
              </a:defRPr>
            </a:pPr>
            <a:r>
              <a:rPr sz="2700" b="1">
                <a:solidFill>
                  <a:srgbClr val="4C1D95"/>
                </a:solidFill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718BC-ECE0-4077-A891-5D54A56E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56F"/>
                </a:solidFill>
              </a:defRPr>
            </a:pPr>
            <a:r>
              <a:rPr sz="1125" b="0">
                <a:solidFill>
                  <a:srgbClr val="5B556F"/>
                </a:solidFill>
              </a:rPr>
              <a:t>dados persistidos para contas, currículos, vagas e candidaturas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9CB48-E1DC-4CE0-8A36-50BCA1CE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24853-BDBF-41B3-96B9-E2BFB8C5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20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O usuário consegue cumprir a jornada principal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BEE28-7F4F-4F3B-A06A-AE7103E3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Criar conta, logar, completar perfil, montar currículo, buscar vaga e se candidatar.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0040F-D267-4234-BDDD-F5B479CF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DC816C-773B-4B4C-8698-7BA31E6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24400"/>
            <a:ext cx="920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O avaliador consegue ver tecnologia aplicada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1D46E-1CE9-4798-AC57-A10B7AB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0062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HTML, CSS, JavaScript, Node.js, Express, MySQL, APIs e chatbot funcionando juntos.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52383-1015-47D7-9FB8-8FB9560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004F6-E82E-4AFE-B55C-95B944CD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76850"/>
            <a:ext cx="920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32F"/>
                </a:solidFill>
              </a:defRPr>
            </a:pPr>
            <a:r>
              <a:rPr sz="1575" b="1">
                <a:solidFill>
                  <a:srgbClr val="17132F"/>
                </a:solidFill>
              </a:rPr>
              <a:t>O projeto tem narrativa social e técnica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9EECA0-0523-40AD-B297-C9F527B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5307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56F"/>
                </a:solidFill>
              </a:defRPr>
            </a:pPr>
            <a:r>
              <a:rPr sz="1200" b="0">
                <a:solidFill>
                  <a:srgbClr val="5B556F"/>
                </a:solidFill>
              </a:rPr>
              <a:t>Ele responde ao tema de empregabilidade e demonstra organização de código.</a:t>
            </a:r>
          </a:p>
        </p:txBody>
      </p:sp>
    </p:spTree>
    <p:extLst>
      <p:ext uri="{BB962C8B-B14F-4D97-AF65-F5344CB8AC3E}">
        <p14:creationId xmlns:p14="http://schemas.microsoft.com/office/powerpoint/2010/main" val="994281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d9b6488e04b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18A90-C72D-4733-A45D-22DD21A0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B35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48858-6AFE-4B43-82E8-08EF4037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B5FD"/>
                </a:solidFill>
              </a:defRPr>
            </a:pPr>
            <a:r>
              <a:rPr sz="1650" b="1">
                <a:solidFill>
                  <a:srgbClr val="C4B5FD"/>
                </a:solidFill>
              </a:rPr>
              <a:t>Considerações finais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A606F-ABFA-4A5F-A34F-6D4D6962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 Favela Tech mostra como uma solução web pode aproximar talento, oportunidade e impacto social.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29A60-B08C-407F-ADD7-73D55DD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7048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E1B4B">
              <a:alpha val="80000"/>
            </a:srgbClr>
          </a:solidFill>
          <a:ln xmlns:a="http://schemas.openxmlformats.org/drawingml/2006/main" w="9525">
            <a:solidFill>
              <a:srgbClr val="4C1D9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C4E46-2E3D-4C5C-9825-40848F6D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4B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C8F8E-1387-40AC-A774-2ABE87CE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Próximo passo técnico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1DF81-925D-4FEA-AD5F-CDAE45EB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909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DE9FE"/>
                </a:solidFill>
              </a:defRPr>
            </a:pPr>
            <a:r>
              <a:rPr sz="1125" b="0">
                <a:solidFill>
                  <a:srgbClr val="EDE9FE"/>
                </a:solidFill>
              </a:rPr>
              <a:t>Enviar e-mails reais com serviço como Resend quando houver domínio ou ambiente publicado.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C9D69-3A23-49E7-9224-EE5E5F4F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B61F7-E0E5-44D3-A630-2C5C56B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Próximo passo de produto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F3FF5-D893-47AF-AECD-B5A97E7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67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DE9FE"/>
                </a:solidFill>
              </a:defRPr>
            </a:pPr>
            <a:r>
              <a:rPr sz="1125" b="0">
                <a:solidFill>
                  <a:srgbClr val="EDE9FE"/>
                </a:solidFill>
              </a:rPr>
              <a:t>Aprimorar recomendação automática e ampliar integrações com plataformas de vagas.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41877-1EF1-42B2-A99B-129C6CD8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3C5A8-7A0E-4FD5-9097-64C1D63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Próximo passo social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91A62-71A4-4BB5-ADF1-1AF64C69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DE9FE"/>
                </a:solidFill>
              </a:defRPr>
            </a:pPr>
            <a:r>
              <a:rPr sz="1125" b="0">
                <a:solidFill>
                  <a:srgbClr val="EDE9FE"/>
                </a:solidFill>
              </a:rPr>
              <a:t>Aproximar empresas, coletivos e jovens para transformar currículo em oportunidade.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FD829-A3C7-46C8-BA7D-12AA36F6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Obrigado.</a:t>
            </a:r>
          </a:p>
        </p:txBody>
      </p:sp>
    </p:spTree>
    <p:extLst>
      <p:ext uri="{BB962C8B-B14F-4D97-AF65-F5344CB8AC3E}">
        <p14:creationId xmlns:p14="http://schemas.microsoft.com/office/powerpoint/2010/main" val="1173437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2026-07-03T11:58:16.8690000Z</dcterms:created>
  <dcterms:modified xsi:type="dcterms:W3CDTF">2026-07-03T11:58:16.8690000Z</dcterms:modified>
</coreProperties>
</file>