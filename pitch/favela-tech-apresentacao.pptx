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0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5" r:id="rId14"/>
    <p:sldId id="264" r:id="rId13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Eu desenvolvi o Favela Tech como projeto final, conectado à ODS 8, trabalho decente e crescimento econômico.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ideia é criar um portal que aproxima jovens da comunidade de oportunidades profissionais.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Em vez de ser só uma página informativa, o site tem login, perfil, currículo, busca de vagas, candidatura, banco de dados, APIs e chatbot.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" name="Google Shape;26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motivação veio de um problema simples: o talento existe, mas nem sempre encontra caminho.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Muitos jovens estudam, fazem cursos e querem trabalhar, porém as vagas ficam espalhadas e o currículo vira uma barreira.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Então o projeto tenta organizar essa jornada em um só lugar.</a:t>
            </a:r>
            <a:endParaRPr/>
          </a:p>
        </p:txBody>
      </p:sp>
      <p:sp>
        <p:nvSpPr>
          <p:cNvPr id="27" name="Google Shape;27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0" name="Google Shape;50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solução foi desenhar a jornada do usuário.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Ele cria conta, completa perfil, monta currículo, busca vagas e se candidata.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 ponto principal é que tudo conversa: dados do perfil ajudam no currículo, as vagas aparecem em uma área própria e as candidaturas ficam registradas.</a:t>
            </a:r>
            <a:endParaRPr/>
          </a:p>
        </p:txBody>
      </p:sp>
      <p:sp>
        <p:nvSpPr>
          <p:cNvPr id="51" name="Google Shape;51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0" name="Google Shape;80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Aqui eu conecto o projeto aos requisitos do desafio.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Implementei as páginas obrigatórias: Home, Sobre Nós, Contato, Login/Cadastro e Como Ajudar.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Além disso, adicionei área restrita, banco de dados, APIs públicas e chatbot em JavaScript.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Também organizei README e pasta pitch para entregar o projeto de forma profissional.</a:t>
            </a:r>
            <a:endParaRPr/>
          </a:p>
        </p:txBody>
      </p:sp>
      <p:sp>
        <p:nvSpPr>
          <p:cNvPr id="81" name="Google Shape;81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4" name="Google Shape;114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Na parte técnica, separei frontend e backend.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 frontend usa HTML, CSS e JavaScript para telas, formulários, responsividade e interações.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 backend usa Node.js e Express para rotas, validações, login, currículo, vagas e candidaturas.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Os dados ficam no MySQL, e as APIs externas usadas são ViaCEP para endereço e Remotive para vagas reais.</a:t>
            </a:r>
            <a:endParaRPr/>
          </a:p>
        </p:txBody>
      </p:sp>
      <p:sp>
        <p:nvSpPr>
          <p:cNvPr id="115" name="Google Shape;115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1" name="Google Shape;141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Neste slide eu mostro a evolução mais recente da página de vagas.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Além de palavra-chave, área e tipo, agora o usuário consegue filtrar por cidade e região.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 chatbot também passou a consultar a mesma rota de vagas, então uma frase como "quero vagas de administração em Belo Horizonte" retorna opções direto na conversa.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Para evitar tela vazia na apresentação, criei fallback local: se a API externa falhar ou demorar, o sistema ainda mostra vagas salvas no banco.</a:t>
            </a:r>
          </a:p>
        </p:txBody>
      </p:sp>
      <p:sp>
        <p:nvSpPr>
          <p:cNvPr id="142" name="Google Shape;142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5" name="Google Shape;165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 perfil, o usuário consegue atualizar dados pessoais, foto, telefone, endereço e informações profissionais.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 endereço usa ViaCEP: ao digitar o CEP, o site preenche rua, bairro, cidade e estado.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Também criei um currículo imprimível com layout próprio, usando os dados preenchidos no portal.</a:t>
            </a:r>
            <a:endParaRPr/>
          </a:p>
        </p:txBody>
      </p:sp>
      <p:sp>
        <p:nvSpPr>
          <p:cNvPr id="166" name="Google Shape;166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8" name="Google Shape;188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Aqui eu resumo o estado atual do projeto sem repetir a demonstração inteira.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 portal já entrega uma jornada completa: cadastro, login, perfil, currículo, vagas, candidatura, termos e chatbot.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 melhoria mais recente foi deixar a área de vagas mais confiável, com filtros por cidade e região, recomendação por habilidades e fallback local caso a API externa não responda.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Como próximo passo, eu trocaria a fonte externa de vagas pela API disponibilizada e publicaria o ambiente para ativar e-mails reais.</a:t>
            </a:r>
          </a:p>
        </p:txBody>
      </p:sp>
      <p:sp>
        <p:nvSpPr>
          <p:cNvPr id="189" name="Google Shape;189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1B4B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/>
          <p:cNvPicPr preferRelativeResize="0"/>
          <p:nvPr/>
        </p:nvPicPr>
        <p:blipFill rotWithShape="1">
          <a:blip r:embed="rId3">
            <a:alphaModFix/>
          </a:blip>
          <a:srcRect b="27" l="0" r="0" t="27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0B35">
              <a:alpha val="8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0" y="0"/>
            <a:ext cx="4953000" cy="6858000"/>
          </a:xfrm>
          <a:prstGeom prst="rect">
            <a:avLst/>
          </a:prstGeom>
          <a:solidFill>
            <a:srgbClr val="1E1B4B">
              <a:alpha val="9333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3"/>
          <p:cNvSpPr/>
          <p:nvPr/>
        </p:nvSpPr>
        <p:spPr>
          <a:xfrm>
            <a:off x="266700" y="270550"/>
            <a:ext cx="4762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C4B5FD"/>
                </a:solidFill>
                <a:latin typeface="Calibri"/>
                <a:ea typeface="Calibri"/>
                <a:cs typeface="Calibri"/>
                <a:sym typeface="Calibri"/>
              </a:rPr>
              <a:t>Portal de Oportunidades</a:t>
            </a:r>
            <a:endParaRPr sz="3500"/>
          </a:p>
        </p:txBody>
      </p:sp>
      <p:sp>
        <p:nvSpPr>
          <p:cNvPr id="20" name="Google Shape;20;p3"/>
          <p:cNvSpPr/>
          <p:nvPr/>
        </p:nvSpPr>
        <p:spPr>
          <a:xfrm>
            <a:off x="609600" y="2438400"/>
            <a:ext cx="49530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EDE9FE"/>
                </a:solidFill>
                <a:latin typeface="Calibri"/>
                <a:ea typeface="Calibri"/>
                <a:cs typeface="Calibri"/>
                <a:sym typeface="Calibri"/>
              </a:rPr>
              <a:t>Um site responsivo para conectar jovens talentos da comunidade a vagas, currículos, empresas e orientação profissional.</a:t>
            </a:r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609600" y="6076950"/>
            <a:ext cx="47625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Victor Hugor de Souza Lopes</a:t>
            </a:r>
            <a:endParaRPr/>
          </a:p>
        </p:txBody>
      </p:sp>
      <p:sp>
        <p:nvSpPr>
          <p:cNvPr id="22" name="Google Shape;22;p3"/>
          <p:cNvSpPr txBox="1"/>
          <p:nvPr/>
        </p:nvSpPr>
        <p:spPr>
          <a:xfrm>
            <a:off x="137200" y="3740000"/>
            <a:ext cx="5160000" cy="870000"/>
          </a:xfrm>
          <a:prstGeom prst="rect">
            <a:avLst/>
          </a:prstGeom>
          <a:solidFill>
            <a:srgbClr val="FFFFFF">
              <a:alpha val="13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50">
                <a:solidFill>
                  <a:srgbClr val="EDE9FE"/>
                </a:solidFill>
                <a:latin typeface="Calibri"/>
                <a:ea typeface="Calibri"/>
                <a:cs typeface="Calibri"/>
                <a:sym typeface="Calibri"/>
              </a:rPr>
              <a:t>ODS 8 - Trabalho decente e crescimento econômico</a:t>
            </a:r>
            <a:endParaRPr b="1" sz="1450">
              <a:solidFill>
                <a:srgbClr val="EDE9FE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>
                <a:solidFill>
                  <a:srgbClr val="E0D6FE"/>
                </a:solidFill>
                <a:latin typeface="Calibri"/>
                <a:ea typeface="Calibri"/>
                <a:cs typeface="Calibri"/>
                <a:sym typeface="Calibri"/>
              </a:rPr>
              <a:t>Promove emprego digno, inclusão produtiva e crescimento sustentável.</a:t>
            </a:r>
            <a:endParaRPr sz="1150">
              <a:solidFill>
                <a:srgbClr val="E0D6FE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solidFill>
                <a:srgbClr val="EDE9F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" name="Google Shape;23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0000" y="1100054"/>
            <a:ext cx="5099999" cy="13248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533400" y="6343650"/>
            <a:ext cx="209550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4C1D95"/>
                </a:solidFill>
                <a:latin typeface="Calibri"/>
                <a:ea typeface="Calibri"/>
                <a:cs typeface="Calibri"/>
                <a:sym typeface="Calibri"/>
              </a:rPr>
              <a:t>Favela Tech</a:t>
            </a:r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11144250" y="6343650"/>
            <a:ext cx="5143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250600" y="190350"/>
            <a:ext cx="57150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Motivação</a:t>
            </a:r>
            <a:endParaRPr sz="3500"/>
          </a:p>
        </p:txBody>
      </p:sp>
      <p:sp>
        <p:nvSpPr>
          <p:cNvPr id="32" name="Google Shape;32;p4"/>
          <p:cNvSpPr/>
          <p:nvPr/>
        </p:nvSpPr>
        <p:spPr>
          <a:xfrm>
            <a:off x="533400" y="781050"/>
            <a:ext cx="8096250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200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Talento sem ponte</a:t>
            </a:r>
            <a:endParaRPr b="1" sz="4200"/>
          </a:p>
        </p:txBody>
      </p:sp>
      <p:sp>
        <p:nvSpPr>
          <p:cNvPr id="33" name="Google Shape;33;p4"/>
          <p:cNvSpPr/>
          <p:nvPr/>
        </p:nvSpPr>
        <p:spPr>
          <a:xfrm>
            <a:off x="533400" y="1638300"/>
            <a:ext cx="6191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Muitos jovens já têm vontade, cursos e habilidades, mas não encontram um caminho simples para serem vistos por empresas.</a:t>
            </a:r>
            <a:endParaRPr/>
          </a:p>
        </p:txBody>
      </p:sp>
      <p:sp>
        <p:nvSpPr>
          <p:cNvPr id="34" name="Google Shape;34;p4"/>
          <p:cNvSpPr/>
          <p:nvPr/>
        </p:nvSpPr>
        <p:spPr>
          <a:xfrm>
            <a:off x="685800" y="2562225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7C3A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4"/>
          <p:cNvSpPr/>
          <p:nvPr/>
        </p:nvSpPr>
        <p:spPr>
          <a:xfrm>
            <a:off x="1009650" y="2524125"/>
            <a:ext cx="55816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Oportunidades ficam espalhadas</a:t>
            </a:r>
            <a:endParaRPr/>
          </a:p>
        </p:txBody>
      </p:sp>
      <p:sp>
        <p:nvSpPr>
          <p:cNvPr id="36" name="Google Shape;36;p4"/>
          <p:cNvSpPr/>
          <p:nvPr/>
        </p:nvSpPr>
        <p:spPr>
          <a:xfrm>
            <a:off x="1009650" y="2800350"/>
            <a:ext cx="55816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Vagas aparecem em plataformas diferentes, grupos, indicações e redes sociais.</a:t>
            </a:r>
            <a:endParaRPr/>
          </a:p>
        </p:txBody>
      </p:sp>
      <p:sp>
        <p:nvSpPr>
          <p:cNvPr id="37" name="Google Shape;37;p4"/>
          <p:cNvSpPr/>
          <p:nvPr/>
        </p:nvSpPr>
        <p:spPr>
          <a:xfrm>
            <a:off x="685800" y="3286125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1009650" y="3248025"/>
            <a:ext cx="55816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Currículo ainda é uma barreira</a:t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1009650" y="3524250"/>
            <a:ext cx="55816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Muita gente não sabe como organizar experiências, cursos e habilidades.</a:t>
            </a:r>
            <a:endParaRPr/>
          </a:p>
        </p:txBody>
      </p:sp>
      <p:sp>
        <p:nvSpPr>
          <p:cNvPr id="40" name="Google Shape;40;p4"/>
          <p:cNvSpPr/>
          <p:nvPr/>
        </p:nvSpPr>
        <p:spPr>
          <a:xfrm>
            <a:off x="685800" y="4010025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4"/>
          <p:cNvSpPr/>
          <p:nvPr/>
        </p:nvSpPr>
        <p:spPr>
          <a:xfrm>
            <a:off x="1009650" y="3971925"/>
            <a:ext cx="55816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Acompanhamento é confuso</a:t>
            </a: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1009650" y="4248150"/>
            <a:ext cx="55816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Depois da candidatura, é fácil perder empresa, data e status.</a:t>
            </a: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685800" y="4733925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4C1D9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4"/>
          <p:cNvSpPr/>
          <p:nvPr/>
        </p:nvSpPr>
        <p:spPr>
          <a:xfrm>
            <a:off x="1009650" y="4695825"/>
            <a:ext cx="55816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Empresas não enxergam todos os talentos</a:t>
            </a:r>
            <a:endParaRPr/>
          </a:p>
        </p:txBody>
      </p:sp>
      <p:sp>
        <p:nvSpPr>
          <p:cNvPr id="45" name="Google Shape;45;p4"/>
          <p:cNvSpPr/>
          <p:nvPr/>
        </p:nvSpPr>
        <p:spPr>
          <a:xfrm>
            <a:off x="1009650" y="4972050"/>
            <a:ext cx="55816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O portal cria um ponto de encontro entre perfil, currículo e vaga.</a:t>
            </a:r>
            <a:endParaRPr/>
          </a:p>
        </p:txBody>
      </p:sp>
      <p:pic>
        <p:nvPicPr>
          <p:cNvPr id="46" name="Google Shape;46;p4"/>
          <p:cNvPicPr preferRelativeResize="0"/>
          <p:nvPr/>
        </p:nvPicPr>
        <p:blipFill rotWithShape="1">
          <a:blip r:embed="rId3">
            <a:alphaModFix/>
          </a:blip>
          <a:srcRect b="0" l="21860" r="21860" t="0"/>
          <a:stretch/>
        </p:blipFill>
        <p:spPr>
          <a:xfrm>
            <a:off x="7320450" y="1181100"/>
            <a:ext cx="4095748" cy="409575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4"/>
          <p:cNvSpPr/>
          <p:nvPr/>
        </p:nvSpPr>
        <p:spPr>
          <a:xfrm>
            <a:off x="7029450" y="971550"/>
            <a:ext cx="76200" cy="4514850"/>
          </a:xfrm>
          <a:prstGeom prst="roundRect">
            <a:avLst>
              <a:gd fmla="val 25000" name="adj"/>
            </a:avLst>
          </a:prstGeom>
          <a:solidFill>
            <a:srgbClr val="7C3A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5"/>
          <p:cNvSpPr/>
          <p:nvPr/>
        </p:nvSpPr>
        <p:spPr>
          <a:xfrm>
            <a:off x="533400" y="6343650"/>
            <a:ext cx="209550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4C1D95"/>
                </a:solidFill>
                <a:latin typeface="Calibri"/>
                <a:ea typeface="Calibri"/>
                <a:cs typeface="Calibri"/>
                <a:sym typeface="Calibri"/>
              </a:rPr>
              <a:t>Favela Tech</a:t>
            </a:r>
            <a:endParaRPr/>
          </a:p>
        </p:txBody>
      </p:sp>
      <p:sp>
        <p:nvSpPr>
          <p:cNvPr id="54" name="Google Shape;54;p5"/>
          <p:cNvSpPr/>
          <p:nvPr/>
        </p:nvSpPr>
        <p:spPr>
          <a:xfrm>
            <a:off x="11144250" y="6343650"/>
            <a:ext cx="5143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55" name="Google Shape;55;p5"/>
          <p:cNvSpPr/>
          <p:nvPr/>
        </p:nvSpPr>
        <p:spPr>
          <a:xfrm>
            <a:off x="137475" y="190350"/>
            <a:ext cx="57150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Solução</a:t>
            </a:r>
            <a:endParaRPr sz="3500"/>
          </a:p>
        </p:txBody>
      </p:sp>
      <p:sp>
        <p:nvSpPr>
          <p:cNvPr id="56" name="Google Shape;56;p5"/>
          <p:cNvSpPr/>
          <p:nvPr/>
        </p:nvSpPr>
        <p:spPr>
          <a:xfrm>
            <a:off x="533400" y="781050"/>
            <a:ext cx="8096250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Do cadastro à candidatura</a:t>
            </a:r>
            <a:endParaRPr b="1" sz="4000"/>
          </a:p>
        </p:txBody>
      </p:sp>
      <p:sp>
        <p:nvSpPr>
          <p:cNvPr id="57" name="Google Shape;57;p5"/>
          <p:cNvSpPr/>
          <p:nvPr/>
        </p:nvSpPr>
        <p:spPr>
          <a:xfrm>
            <a:off x="533400" y="1638300"/>
            <a:ext cx="6191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O usuário começa criando uma conta, organiza seus dados e usa o portal para buscar oportunidades.</a:t>
            </a:r>
            <a:endParaRPr/>
          </a:p>
        </p:txBody>
      </p:sp>
      <p:sp>
        <p:nvSpPr>
          <p:cNvPr id="58" name="Google Shape;58;p5"/>
          <p:cNvSpPr/>
          <p:nvPr/>
        </p:nvSpPr>
        <p:spPr>
          <a:xfrm>
            <a:off x="609600" y="2781300"/>
            <a:ext cx="1924050" cy="2324100"/>
          </a:xfrm>
          <a:prstGeom prst="roundRect">
            <a:avLst>
              <a:gd fmla="val 3960" name="adj"/>
            </a:avLst>
          </a:prstGeom>
          <a:solidFill>
            <a:srgbClr val="FFFFFF"/>
          </a:solidFill>
          <a:ln cap="flat" cmpd="sng" w="9525">
            <a:solidFill>
              <a:srgbClr val="DDD6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800100" y="2971800"/>
            <a:ext cx="571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60" name="Google Shape;60;p5"/>
          <p:cNvSpPr/>
          <p:nvPr/>
        </p:nvSpPr>
        <p:spPr>
          <a:xfrm>
            <a:off x="800100" y="3524250"/>
            <a:ext cx="1524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Criar conta</a:t>
            </a:r>
            <a:endParaRPr/>
          </a:p>
        </p:txBody>
      </p:sp>
      <p:sp>
        <p:nvSpPr>
          <p:cNvPr id="61" name="Google Shape;61;p5"/>
          <p:cNvSpPr/>
          <p:nvPr/>
        </p:nvSpPr>
        <p:spPr>
          <a:xfrm>
            <a:off x="800100" y="3981450"/>
            <a:ext cx="15430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Cadastro com nome, e-mail, senha criptografada, aceite de termos e perfil básico.</a:t>
            </a:r>
            <a:endParaRPr/>
          </a:p>
        </p:txBody>
      </p:sp>
      <p:sp>
        <p:nvSpPr>
          <p:cNvPr id="62" name="Google Shape;62;p5"/>
          <p:cNvSpPr/>
          <p:nvPr/>
        </p:nvSpPr>
        <p:spPr>
          <a:xfrm>
            <a:off x="2819400" y="2781300"/>
            <a:ext cx="1924050" cy="2324100"/>
          </a:xfrm>
          <a:prstGeom prst="roundRect">
            <a:avLst>
              <a:gd fmla="val 3960" name="adj"/>
            </a:avLst>
          </a:prstGeom>
          <a:solidFill>
            <a:srgbClr val="FFFFFF"/>
          </a:solidFill>
          <a:ln cap="flat" cmpd="sng" w="9525">
            <a:solidFill>
              <a:srgbClr val="DDD6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5"/>
          <p:cNvSpPr/>
          <p:nvPr/>
        </p:nvSpPr>
        <p:spPr>
          <a:xfrm>
            <a:off x="3009900" y="2971800"/>
            <a:ext cx="571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64" name="Google Shape;64;p5"/>
          <p:cNvSpPr/>
          <p:nvPr/>
        </p:nvSpPr>
        <p:spPr>
          <a:xfrm>
            <a:off x="3009900" y="3524250"/>
            <a:ext cx="1524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Completar perfil</a:t>
            </a:r>
            <a:endParaRPr/>
          </a:p>
        </p:txBody>
      </p:sp>
      <p:sp>
        <p:nvSpPr>
          <p:cNvPr id="65" name="Google Shape;65;p5"/>
          <p:cNvSpPr/>
          <p:nvPr/>
        </p:nvSpPr>
        <p:spPr>
          <a:xfrm>
            <a:off x="3009900" y="3981450"/>
            <a:ext cx="15430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Foto, telefone, endereço com CEP via API e dados profissionais.</a:t>
            </a:r>
            <a:endParaRPr/>
          </a:p>
        </p:txBody>
      </p:sp>
      <p:sp>
        <p:nvSpPr>
          <p:cNvPr id="66" name="Google Shape;66;p5"/>
          <p:cNvSpPr/>
          <p:nvPr/>
        </p:nvSpPr>
        <p:spPr>
          <a:xfrm>
            <a:off x="5029200" y="2781300"/>
            <a:ext cx="1924050" cy="2324100"/>
          </a:xfrm>
          <a:prstGeom prst="roundRect">
            <a:avLst>
              <a:gd fmla="val 3960" name="adj"/>
            </a:avLst>
          </a:prstGeom>
          <a:solidFill>
            <a:srgbClr val="FFFFFF"/>
          </a:solidFill>
          <a:ln cap="flat" cmpd="sng" w="9525">
            <a:solidFill>
              <a:srgbClr val="DDD6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5"/>
          <p:cNvSpPr/>
          <p:nvPr/>
        </p:nvSpPr>
        <p:spPr>
          <a:xfrm>
            <a:off x="5219700" y="2971800"/>
            <a:ext cx="571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68" name="Google Shape;68;p5"/>
          <p:cNvSpPr/>
          <p:nvPr/>
        </p:nvSpPr>
        <p:spPr>
          <a:xfrm>
            <a:off x="5219700" y="3524250"/>
            <a:ext cx="1524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Montar currículo</a:t>
            </a:r>
            <a:endParaRPr/>
          </a:p>
        </p:txBody>
      </p:sp>
      <p:sp>
        <p:nvSpPr>
          <p:cNvPr id="69" name="Google Shape;69;p5"/>
          <p:cNvSpPr/>
          <p:nvPr/>
        </p:nvSpPr>
        <p:spPr>
          <a:xfrm>
            <a:off x="5219700" y="3981450"/>
            <a:ext cx="15430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Formação, experiências, cursos, habilidades e modelo pronto para impressão.</a:t>
            </a:r>
            <a:endParaRPr/>
          </a:p>
        </p:txBody>
      </p:sp>
      <p:sp>
        <p:nvSpPr>
          <p:cNvPr id="70" name="Google Shape;70;p5"/>
          <p:cNvSpPr/>
          <p:nvPr/>
        </p:nvSpPr>
        <p:spPr>
          <a:xfrm>
            <a:off x="7239000" y="2781300"/>
            <a:ext cx="1924050" cy="2324100"/>
          </a:xfrm>
          <a:prstGeom prst="roundRect">
            <a:avLst>
              <a:gd fmla="val 3960" name="adj"/>
            </a:avLst>
          </a:prstGeom>
          <a:solidFill>
            <a:srgbClr val="FFFFFF"/>
          </a:solidFill>
          <a:ln cap="flat" cmpd="sng" w="9525">
            <a:solidFill>
              <a:srgbClr val="DDD6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5"/>
          <p:cNvSpPr/>
          <p:nvPr/>
        </p:nvSpPr>
        <p:spPr>
          <a:xfrm>
            <a:off x="7429500" y="2971800"/>
            <a:ext cx="571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/>
          </a:p>
        </p:txBody>
      </p:sp>
      <p:sp>
        <p:nvSpPr>
          <p:cNvPr id="72" name="Google Shape;72;p5"/>
          <p:cNvSpPr/>
          <p:nvPr/>
        </p:nvSpPr>
        <p:spPr>
          <a:xfrm>
            <a:off x="7429500" y="3524250"/>
            <a:ext cx="1524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Buscar vaga</a:t>
            </a:r>
            <a:endParaRPr/>
          </a:p>
        </p:txBody>
      </p:sp>
      <p:sp>
        <p:nvSpPr>
          <p:cNvPr id="73" name="Google Shape;73;p5"/>
          <p:cNvSpPr/>
          <p:nvPr/>
        </p:nvSpPr>
        <p:spPr>
          <a:xfrm>
            <a:off x="7429500" y="3981450"/>
            <a:ext cx="15430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Filtros, busca por palavra-chave, vagas locais e vagas reais via API pública.</a:t>
            </a:r>
            <a:endParaRPr/>
          </a:p>
        </p:txBody>
      </p:sp>
      <p:sp>
        <p:nvSpPr>
          <p:cNvPr id="74" name="Google Shape;74;p5"/>
          <p:cNvSpPr/>
          <p:nvPr/>
        </p:nvSpPr>
        <p:spPr>
          <a:xfrm>
            <a:off x="9448800" y="2781300"/>
            <a:ext cx="1924050" cy="2324100"/>
          </a:xfrm>
          <a:prstGeom prst="roundRect">
            <a:avLst>
              <a:gd fmla="val 3960" name="adj"/>
            </a:avLst>
          </a:prstGeom>
          <a:solidFill>
            <a:srgbClr val="FFFFFF"/>
          </a:solidFill>
          <a:ln cap="flat" cmpd="sng" w="9525">
            <a:solidFill>
              <a:srgbClr val="DDD6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5"/>
          <p:cNvSpPr/>
          <p:nvPr/>
        </p:nvSpPr>
        <p:spPr>
          <a:xfrm>
            <a:off x="9639300" y="2971800"/>
            <a:ext cx="571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/>
          </a:p>
        </p:txBody>
      </p:sp>
      <p:sp>
        <p:nvSpPr>
          <p:cNvPr id="76" name="Google Shape;76;p5"/>
          <p:cNvSpPr/>
          <p:nvPr/>
        </p:nvSpPr>
        <p:spPr>
          <a:xfrm>
            <a:off x="9639300" y="3524250"/>
            <a:ext cx="15240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Candidatar-se</a:t>
            </a:r>
            <a:endParaRPr/>
          </a:p>
        </p:txBody>
      </p:sp>
      <p:sp>
        <p:nvSpPr>
          <p:cNvPr id="77" name="Google Shape;77;p5"/>
          <p:cNvSpPr/>
          <p:nvPr/>
        </p:nvSpPr>
        <p:spPr>
          <a:xfrm>
            <a:off x="9639300" y="3981450"/>
            <a:ext cx="15430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Candidatura salva no MySQL, com bloqueio de duplicidade e status no perfil.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6"/>
          <p:cNvSpPr/>
          <p:nvPr/>
        </p:nvSpPr>
        <p:spPr>
          <a:xfrm>
            <a:off x="533400" y="6343650"/>
            <a:ext cx="209550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4C1D95"/>
                </a:solidFill>
                <a:latin typeface="Calibri"/>
                <a:ea typeface="Calibri"/>
                <a:cs typeface="Calibri"/>
                <a:sym typeface="Calibri"/>
              </a:rPr>
              <a:t>Favela Tech</a:t>
            </a:r>
            <a:endParaRPr/>
          </a:p>
        </p:txBody>
      </p:sp>
      <p:sp>
        <p:nvSpPr>
          <p:cNvPr id="84" name="Google Shape;84;p6"/>
          <p:cNvSpPr/>
          <p:nvPr/>
        </p:nvSpPr>
        <p:spPr>
          <a:xfrm>
            <a:off x="11144250" y="6343650"/>
            <a:ext cx="5143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/>
          </a:p>
        </p:txBody>
      </p:sp>
      <p:sp>
        <p:nvSpPr>
          <p:cNvPr id="85" name="Google Shape;85;p6"/>
          <p:cNvSpPr/>
          <p:nvPr/>
        </p:nvSpPr>
        <p:spPr>
          <a:xfrm>
            <a:off x="137475" y="161775"/>
            <a:ext cx="57150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Requisitos do desafio</a:t>
            </a:r>
            <a:endParaRPr sz="3500"/>
          </a:p>
        </p:txBody>
      </p:sp>
      <p:sp>
        <p:nvSpPr>
          <p:cNvPr id="86" name="Google Shape;86;p6"/>
          <p:cNvSpPr/>
          <p:nvPr/>
        </p:nvSpPr>
        <p:spPr>
          <a:xfrm>
            <a:off x="533400" y="781050"/>
            <a:ext cx="8096250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Requisitos atendidos</a:t>
            </a:r>
            <a:endParaRPr b="1" sz="4000"/>
          </a:p>
        </p:txBody>
      </p:sp>
      <p:sp>
        <p:nvSpPr>
          <p:cNvPr id="87" name="Google Shape;87;p6"/>
          <p:cNvSpPr/>
          <p:nvPr/>
        </p:nvSpPr>
        <p:spPr>
          <a:xfrm>
            <a:off x="533400" y="1638300"/>
            <a:ext cx="6191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Além das páginas obrigatórias, o site usa banco, APIs, chatbot e área autenticada.</a:t>
            </a:r>
            <a:endParaRPr/>
          </a:p>
        </p:txBody>
      </p:sp>
      <p:sp>
        <p:nvSpPr>
          <p:cNvPr id="88" name="Google Shape;88;p6"/>
          <p:cNvSpPr/>
          <p:nvPr/>
        </p:nvSpPr>
        <p:spPr>
          <a:xfrm>
            <a:off x="704850" y="2419350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7C3A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6"/>
          <p:cNvSpPr/>
          <p:nvPr/>
        </p:nvSpPr>
        <p:spPr>
          <a:xfrm>
            <a:off x="1028700" y="2381250"/>
            <a:ext cx="44386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Home</a:t>
            </a:r>
            <a:endParaRPr/>
          </a:p>
        </p:txBody>
      </p:sp>
      <p:sp>
        <p:nvSpPr>
          <p:cNvPr id="90" name="Google Shape;90;p6"/>
          <p:cNvSpPr/>
          <p:nvPr/>
        </p:nvSpPr>
        <p:spPr>
          <a:xfrm>
            <a:off x="1028700" y="2657475"/>
            <a:ext cx="44386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Página inicial com apresentação, ODS 8, chamadas para currículo e vagas.</a:t>
            </a:r>
            <a:endParaRPr/>
          </a:p>
        </p:txBody>
      </p:sp>
      <p:sp>
        <p:nvSpPr>
          <p:cNvPr id="91" name="Google Shape;91;p6"/>
          <p:cNvSpPr/>
          <p:nvPr/>
        </p:nvSpPr>
        <p:spPr>
          <a:xfrm>
            <a:off x="704850" y="3114675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6"/>
          <p:cNvSpPr/>
          <p:nvPr/>
        </p:nvSpPr>
        <p:spPr>
          <a:xfrm>
            <a:off x="1028700" y="3076575"/>
            <a:ext cx="44386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Sobre Nós</a:t>
            </a:r>
            <a:endParaRPr/>
          </a:p>
        </p:txBody>
      </p:sp>
      <p:sp>
        <p:nvSpPr>
          <p:cNvPr id="93" name="Google Shape;93;p6"/>
          <p:cNvSpPr/>
          <p:nvPr/>
        </p:nvSpPr>
        <p:spPr>
          <a:xfrm>
            <a:off x="1028700" y="3352800"/>
            <a:ext cx="44386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Missão, valores, história do projeto e contexto do desenvolvedor.</a:t>
            </a:r>
            <a:endParaRPr/>
          </a:p>
        </p:txBody>
      </p:sp>
      <p:sp>
        <p:nvSpPr>
          <p:cNvPr id="94" name="Google Shape;94;p6"/>
          <p:cNvSpPr/>
          <p:nvPr/>
        </p:nvSpPr>
        <p:spPr>
          <a:xfrm>
            <a:off x="704850" y="3810000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6"/>
          <p:cNvSpPr/>
          <p:nvPr/>
        </p:nvSpPr>
        <p:spPr>
          <a:xfrm>
            <a:off x="1028700" y="3771900"/>
            <a:ext cx="44386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Contato</a:t>
            </a:r>
            <a:endParaRPr/>
          </a:p>
        </p:txBody>
      </p:sp>
      <p:sp>
        <p:nvSpPr>
          <p:cNvPr id="96" name="Google Shape;96;p6"/>
          <p:cNvSpPr/>
          <p:nvPr/>
        </p:nvSpPr>
        <p:spPr>
          <a:xfrm>
            <a:off x="1028700" y="4048125"/>
            <a:ext cx="44386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Formulário, canais de atendimento e mensagem alinhada ao portal.</a:t>
            </a:r>
            <a:endParaRPr/>
          </a:p>
        </p:txBody>
      </p:sp>
      <p:sp>
        <p:nvSpPr>
          <p:cNvPr id="97" name="Google Shape;97;p6"/>
          <p:cNvSpPr/>
          <p:nvPr/>
        </p:nvSpPr>
        <p:spPr>
          <a:xfrm>
            <a:off x="704850" y="4505325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4C1D9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6"/>
          <p:cNvSpPr/>
          <p:nvPr/>
        </p:nvSpPr>
        <p:spPr>
          <a:xfrm>
            <a:off x="1028700" y="4467225"/>
            <a:ext cx="44386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Como Ajudar</a:t>
            </a:r>
            <a:endParaRPr/>
          </a:p>
        </p:txBody>
      </p:sp>
      <p:sp>
        <p:nvSpPr>
          <p:cNvPr id="99" name="Google Shape;99;p6"/>
          <p:cNvSpPr/>
          <p:nvPr/>
        </p:nvSpPr>
        <p:spPr>
          <a:xfrm>
            <a:off x="1028700" y="4743450"/>
            <a:ext cx="44386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Ações práticas, mentoria, divulgação, ONGs e compartilhamento.</a:t>
            </a:r>
            <a:endParaRPr/>
          </a:p>
        </p:txBody>
      </p:sp>
      <p:sp>
        <p:nvSpPr>
          <p:cNvPr id="100" name="Google Shape;100;p6"/>
          <p:cNvSpPr/>
          <p:nvPr/>
        </p:nvSpPr>
        <p:spPr>
          <a:xfrm>
            <a:off x="6572250" y="2419350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7C3A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6"/>
          <p:cNvSpPr/>
          <p:nvPr/>
        </p:nvSpPr>
        <p:spPr>
          <a:xfrm>
            <a:off x="6896100" y="2381250"/>
            <a:ext cx="44386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Login/Cadastro</a:t>
            </a:r>
            <a:endParaRPr/>
          </a:p>
        </p:txBody>
      </p:sp>
      <p:sp>
        <p:nvSpPr>
          <p:cNvPr id="102" name="Google Shape;102;p6"/>
          <p:cNvSpPr/>
          <p:nvPr/>
        </p:nvSpPr>
        <p:spPr>
          <a:xfrm>
            <a:off x="6896100" y="2657475"/>
            <a:ext cx="44386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Conta com senha criptografada, termos/LGPD, verificação e recuperação local.</a:t>
            </a:r>
            <a:endParaRPr/>
          </a:p>
        </p:txBody>
      </p:sp>
      <p:sp>
        <p:nvSpPr>
          <p:cNvPr id="103" name="Google Shape;103;p6"/>
          <p:cNvSpPr/>
          <p:nvPr/>
        </p:nvSpPr>
        <p:spPr>
          <a:xfrm>
            <a:off x="6572250" y="3114675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6"/>
          <p:cNvSpPr/>
          <p:nvPr/>
        </p:nvSpPr>
        <p:spPr>
          <a:xfrm>
            <a:off x="6896100" y="3076575"/>
            <a:ext cx="44386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Área restrita</a:t>
            </a:r>
            <a:endParaRPr/>
          </a:p>
        </p:txBody>
      </p:sp>
      <p:sp>
        <p:nvSpPr>
          <p:cNvPr id="105" name="Google Shape;105;p6"/>
          <p:cNvSpPr/>
          <p:nvPr/>
        </p:nvSpPr>
        <p:spPr>
          <a:xfrm>
            <a:off x="6896100" y="3352800"/>
            <a:ext cx="44386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Perfil, foto, telefone/e-mail mascarados, endereço, currículo e candidaturas.</a:t>
            </a:r>
            <a:endParaRPr/>
          </a:p>
        </p:txBody>
      </p:sp>
      <p:sp>
        <p:nvSpPr>
          <p:cNvPr id="106" name="Google Shape;106;p6"/>
          <p:cNvSpPr/>
          <p:nvPr/>
        </p:nvSpPr>
        <p:spPr>
          <a:xfrm>
            <a:off x="6572250" y="3810000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6"/>
          <p:cNvSpPr/>
          <p:nvPr/>
        </p:nvSpPr>
        <p:spPr>
          <a:xfrm>
            <a:off x="6896100" y="3771900"/>
            <a:ext cx="44386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APIs</a:t>
            </a:r>
            <a:endParaRPr/>
          </a:p>
        </p:txBody>
      </p:sp>
      <p:sp>
        <p:nvSpPr>
          <p:cNvPr id="108" name="Google Shape;108;p6"/>
          <p:cNvSpPr/>
          <p:nvPr/>
        </p:nvSpPr>
        <p:spPr>
          <a:xfrm>
            <a:off x="6896100" y="4048125"/>
            <a:ext cx="44386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ViaCEP para endereço e Remotive para vagas reais remotas.</a:t>
            </a:r>
            <a:endParaRPr/>
          </a:p>
        </p:txBody>
      </p:sp>
      <p:sp>
        <p:nvSpPr>
          <p:cNvPr id="109" name="Google Shape;109;p6"/>
          <p:cNvSpPr/>
          <p:nvPr/>
        </p:nvSpPr>
        <p:spPr>
          <a:xfrm>
            <a:off x="6572250" y="4505325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4C1D9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6"/>
          <p:cNvSpPr/>
          <p:nvPr/>
        </p:nvSpPr>
        <p:spPr>
          <a:xfrm>
            <a:off x="6896100" y="4467225"/>
            <a:ext cx="44386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Chatbot</a:t>
            </a:r>
            <a:endParaRPr/>
          </a:p>
        </p:txBody>
      </p:sp>
      <p:sp>
        <p:nvSpPr>
          <p:cNvPr id="111" name="Google Shape;111;p6"/>
          <p:cNvSpPr/>
          <p:nvPr/>
        </p:nvSpPr>
        <p:spPr>
          <a:xfrm>
            <a:off x="6896100" y="4743450"/>
            <a:ext cx="44386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Assistente em todas as páginas com respostas, atalhos e efeito digitando.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7"/>
          <p:cNvSpPr/>
          <p:nvPr/>
        </p:nvSpPr>
        <p:spPr>
          <a:xfrm>
            <a:off x="533400" y="6343650"/>
            <a:ext cx="209550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4C1D95"/>
                </a:solidFill>
                <a:latin typeface="Calibri"/>
                <a:ea typeface="Calibri"/>
                <a:cs typeface="Calibri"/>
                <a:sym typeface="Calibri"/>
              </a:rPr>
              <a:t>Favela Tech</a:t>
            </a:r>
            <a:endParaRPr/>
          </a:p>
        </p:txBody>
      </p:sp>
      <p:sp>
        <p:nvSpPr>
          <p:cNvPr id="118" name="Google Shape;118;p7"/>
          <p:cNvSpPr/>
          <p:nvPr/>
        </p:nvSpPr>
        <p:spPr>
          <a:xfrm>
            <a:off x="11144250" y="6343650"/>
            <a:ext cx="5143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/>
          </a:p>
        </p:txBody>
      </p:sp>
      <p:sp>
        <p:nvSpPr>
          <p:cNvPr id="119" name="Google Shape;119;p7"/>
          <p:cNvSpPr/>
          <p:nvPr/>
        </p:nvSpPr>
        <p:spPr>
          <a:xfrm>
            <a:off x="137475" y="114150"/>
            <a:ext cx="57150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Desenvolvimento</a:t>
            </a:r>
            <a:endParaRPr sz="3500"/>
          </a:p>
        </p:txBody>
      </p:sp>
      <p:sp>
        <p:nvSpPr>
          <p:cNvPr id="120" name="Google Shape;120;p7"/>
          <p:cNvSpPr/>
          <p:nvPr/>
        </p:nvSpPr>
        <p:spPr>
          <a:xfrm>
            <a:off x="533400" y="781050"/>
            <a:ext cx="8096250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Frontend, backend e banco</a:t>
            </a:r>
            <a:endParaRPr b="1" sz="4000"/>
          </a:p>
        </p:txBody>
      </p:sp>
      <p:sp>
        <p:nvSpPr>
          <p:cNvPr id="121" name="Google Shape;121;p7"/>
          <p:cNvSpPr/>
          <p:nvPr/>
        </p:nvSpPr>
        <p:spPr>
          <a:xfrm>
            <a:off x="533400" y="1638300"/>
            <a:ext cx="6191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Essa organização deixa o código mais profissional e facilita explicar cada responsabilidade.</a:t>
            </a:r>
            <a:endParaRPr/>
          </a:p>
        </p:txBody>
      </p:sp>
      <p:sp>
        <p:nvSpPr>
          <p:cNvPr id="122" name="Google Shape;122;p7"/>
          <p:cNvSpPr/>
          <p:nvPr/>
        </p:nvSpPr>
        <p:spPr>
          <a:xfrm>
            <a:off x="609600" y="2419350"/>
            <a:ext cx="2381250" cy="2571750"/>
          </a:xfrm>
          <a:prstGeom prst="roundRect">
            <a:avLst>
              <a:gd fmla="val 3200" name="adj"/>
            </a:avLst>
          </a:prstGeom>
          <a:solidFill>
            <a:srgbClr val="FFFFFF"/>
          </a:solidFill>
          <a:ln cap="flat" cmpd="sng" w="9525">
            <a:solidFill>
              <a:srgbClr val="DDD6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7"/>
          <p:cNvSpPr/>
          <p:nvPr/>
        </p:nvSpPr>
        <p:spPr>
          <a:xfrm>
            <a:off x="819150" y="2647950"/>
            <a:ext cx="19050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75">
                <a:solidFill>
                  <a:srgbClr val="4C1D95"/>
                </a:solidFill>
                <a:latin typeface="Calibri"/>
                <a:ea typeface="Calibri"/>
                <a:cs typeface="Calibri"/>
                <a:sym typeface="Calibri"/>
              </a:rPr>
              <a:t>Frontend</a:t>
            </a:r>
            <a:endParaRPr/>
          </a:p>
        </p:txBody>
      </p:sp>
      <p:sp>
        <p:nvSpPr>
          <p:cNvPr id="124" name="Google Shape;124;p7"/>
          <p:cNvSpPr/>
          <p:nvPr/>
        </p:nvSpPr>
        <p:spPr>
          <a:xfrm>
            <a:off x="819150" y="3257550"/>
            <a:ext cx="190500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75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HTML, CSS e JavaScript</a:t>
            </a:r>
            <a:endParaRPr/>
          </a:p>
        </p:txBody>
      </p:sp>
      <p:sp>
        <p:nvSpPr>
          <p:cNvPr id="125" name="Google Shape;125;p7"/>
          <p:cNvSpPr/>
          <p:nvPr/>
        </p:nvSpPr>
        <p:spPr>
          <a:xfrm>
            <a:off x="819150" y="3714750"/>
            <a:ext cx="1857375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7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Páginas, responsividade, animações, chatbot, formulários, notificações e consumo das rotas.</a:t>
            </a:r>
            <a:endParaRPr/>
          </a:p>
        </p:txBody>
      </p:sp>
      <p:sp>
        <p:nvSpPr>
          <p:cNvPr id="126" name="Google Shape;126;p7"/>
          <p:cNvSpPr/>
          <p:nvPr/>
        </p:nvSpPr>
        <p:spPr>
          <a:xfrm>
            <a:off x="3352800" y="2419350"/>
            <a:ext cx="2381250" cy="2571750"/>
          </a:xfrm>
          <a:prstGeom prst="roundRect">
            <a:avLst>
              <a:gd fmla="val 3200" name="adj"/>
            </a:avLst>
          </a:prstGeom>
          <a:solidFill>
            <a:srgbClr val="FFFFFF"/>
          </a:solidFill>
          <a:ln cap="flat" cmpd="sng" w="9525">
            <a:solidFill>
              <a:srgbClr val="DDD6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7"/>
          <p:cNvSpPr/>
          <p:nvPr/>
        </p:nvSpPr>
        <p:spPr>
          <a:xfrm>
            <a:off x="3562350" y="2647950"/>
            <a:ext cx="19050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75">
                <a:solidFill>
                  <a:srgbClr val="4C1D95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endParaRPr/>
          </a:p>
        </p:txBody>
      </p:sp>
      <p:sp>
        <p:nvSpPr>
          <p:cNvPr id="128" name="Google Shape;128;p7"/>
          <p:cNvSpPr/>
          <p:nvPr/>
        </p:nvSpPr>
        <p:spPr>
          <a:xfrm>
            <a:off x="3562350" y="3257550"/>
            <a:ext cx="190500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75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Node.js + Express</a:t>
            </a:r>
            <a:endParaRPr/>
          </a:p>
        </p:txBody>
      </p:sp>
      <p:sp>
        <p:nvSpPr>
          <p:cNvPr id="129" name="Google Shape;129;p7"/>
          <p:cNvSpPr/>
          <p:nvPr/>
        </p:nvSpPr>
        <p:spPr>
          <a:xfrm>
            <a:off x="3562350" y="3714750"/>
            <a:ext cx="1857375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7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Servidor local, rotas REST, controllers, validações, autenticação e integração com MySQL.</a:t>
            </a:r>
            <a:endParaRPr/>
          </a:p>
        </p:txBody>
      </p:sp>
      <p:sp>
        <p:nvSpPr>
          <p:cNvPr id="130" name="Google Shape;130;p7"/>
          <p:cNvSpPr/>
          <p:nvPr/>
        </p:nvSpPr>
        <p:spPr>
          <a:xfrm>
            <a:off x="6096000" y="2419350"/>
            <a:ext cx="2381250" cy="2571750"/>
          </a:xfrm>
          <a:prstGeom prst="roundRect">
            <a:avLst>
              <a:gd fmla="val 3200" name="adj"/>
            </a:avLst>
          </a:prstGeom>
          <a:solidFill>
            <a:srgbClr val="FFFFFF"/>
          </a:solidFill>
          <a:ln cap="flat" cmpd="sng" w="9525">
            <a:solidFill>
              <a:srgbClr val="DDD6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7"/>
          <p:cNvSpPr/>
          <p:nvPr/>
        </p:nvSpPr>
        <p:spPr>
          <a:xfrm>
            <a:off x="6305550" y="2647950"/>
            <a:ext cx="19050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75">
                <a:solidFill>
                  <a:srgbClr val="4C1D95"/>
                </a:solidFill>
                <a:latin typeface="Calibri"/>
                <a:ea typeface="Calibri"/>
                <a:cs typeface="Calibri"/>
                <a:sym typeface="Calibri"/>
              </a:rPr>
              <a:t>Banco de dados</a:t>
            </a:r>
            <a:endParaRPr/>
          </a:p>
        </p:txBody>
      </p:sp>
      <p:sp>
        <p:nvSpPr>
          <p:cNvPr id="132" name="Google Shape;132;p7"/>
          <p:cNvSpPr/>
          <p:nvPr/>
        </p:nvSpPr>
        <p:spPr>
          <a:xfrm>
            <a:off x="6305550" y="3257550"/>
            <a:ext cx="190500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75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MySQL</a:t>
            </a:r>
            <a:endParaRPr/>
          </a:p>
        </p:txBody>
      </p:sp>
      <p:sp>
        <p:nvSpPr>
          <p:cNvPr id="133" name="Google Shape;133;p7"/>
          <p:cNvSpPr/>
          <p:nvPr/>
        </p:nvSpPr>
        <p:spPr>
          <a:xfrm>
            <a:off x="6305550" y="3714750"/>
            <a:ext cx="1857375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7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Usuários, currículos, candidaturas, vagas locais/externas, endereço e tokens de segurança.</a:t>
            </a:r>
            <a:endParaRPr/>
          </a:p>
        </p:txBody>
      </p:sp>
      <p:sp>
        <p:nvSpPr>
          <p:cNvPr id="134" name="Google Shape;134;p7"/>
          <p:cNvSpPr/>
          <p:nvPr/>
        </p:nvSpPr>
        <p:spPr>
          <a:xfrm>
            <a:off x="8839200" y="2419350"/>
            <a:ext cx="2381250" cy="2571750"/>
          </a:xfrm>
          <a:prstGeom prst="roundRect">
            <a:avLst>
              <a:gd fmla="val 3200" name="adj"/>
            </a:avLst>
          </a:prstGeom>
          <a:solidFill>
            <a:srgbClr val="FFFFFF"/>
          </a:solidFill>
          <a:ln cap="flat" cmpd="sng" w="9525">
            <a:solidFill>
              <a:srgbClr val="DDD6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"/>
          <p:cNvSpPr/>
          <p:nvPr/>
        </p:nvSpPr>
        <p:spPr>
          <a:xfrm>
            <a:off x="9048750" y="2647950"/>
            <a:ext cx="19050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75">
                <a:solidFill>
                  <a:srgbClr val="4C1D95"/>
                </a:solidFill>
                <a:latin typeface="Calibri"/>
                <a:ea typeface="Calibri"/>
                <a:cs typeface="Calibri"/>
                <a:sym typeface="Calibri"/>
              </a:rPr>
              <a:t>APIs externas</a:t>
            </a:r>
            <a:endParaRPr/>
          </a:p>
        </p:txBody>
      </p:sp>
      <p:sp>
        <p:nvSpPr>
          <p:cNvPr id="136" name="Google Shape;136;p7"/>
          <p:cNvSpPr/>
          <p:nvPr/>
        </p:nvSpPr>
        <p:spPr>
          <a:xfrm>
            <a:off x="9048750" y="3257550"/>
            <a:ext cx="190500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75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ViaCEP + Remotive + Formspree</a:t>
            </a:r>
            <a:endParaRPr/>
          </a:p>
        </p:txBody>
      </p:sp>
      <p:sp>
        <p:nvSpPr>
          <p:cNvPr id="137" name="Google Shape;137;p7"/>
          <p:cNvSpPr/>
          <p:nvPr/>
        </p:nvSpPr>
        <p:spPr>
          <a:xfrm>
            <a:off x="9048750" y="3714750"/>
            <a:ext cx="1857375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7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CEP preenchido automaticamente, vagas reais por API pública e envio do contato pelo Formspree.</a:t>
            </a:r>
            <a:endParaRPr/>
          </a:p>
        </p:txBody>
      </p:sp>
      <p:sp>
        <p:nvSpPr>
          <p:cNvPr id="138" name="Google Shape;138;p7"/>
          <p:cNvSpPr/>
          <p:nvPr/>
        </p:nvSpPr>
        <p:spPr>
          <a:xfrm>
            <a:off x="1104900" y="5467350"/>
            <a:ext cx="9906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Estrutura principal: frontend/ para a interface e backend/ para servidor, rotas, controllers, config e scripts SQL.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"/>
          <p:cNvSpPr/>
          <p:nvPr/>
        </p:nvSpPr>
        <p:spPr>
          <a:xfrm>
            <a:off x="533400" y="6343650"/>
            <a:ext cx="209550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4C1D95"/>
                </a:solidFill>
                <a:latin typeface="Calibri"/>
                <a:ea typeface="Calibri"/>
                <a:cs typeface="Calibri"/>
                <a:sym typeface="Calibri"/>
              </a:rPr>
              <a:t>Favela Tech</a:t>
            </a:r>
            <a:endParaRPr/>
          </a:p>
        </p:txBody>
      </p:sp>
      <p:sp>
        <p:nvSpPr>
          <p:cNvPr id="145" name="Google Shape;145;p8"/>
          <p:cNvSpPr/>
          <p:nvPr/>
        </p:nvSpPr>
        <p:spPr>
          <a:xfrm>
            <a:off x="11144250" y="6343650"/>
            <a:ext cx="5143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/>
          </a:p>
        </p:txBody>
      </p:sp>
      <p:sp>
        <p:nvSpPr>
          <p:cNvPr id="146" name="Google Shape;146;p8"/>
          <p:cNvSpPr/>
          <p:nvPr/>
        </p:nvSpPr>
        <p:spPr>
          <a:xfrm>
            <a:off x="142875" y="190350"/>
            <a:ext cx="57150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Vagas, filtros e chatbot</a:t>
            </a:r>
            <a:endParaRPr sz="3500"/>
          </a:p>
        </p:txBody>
      </p:sp>
      <p:sp>
        <p:nvSpPr>
          <p:cNvPr id="147" name="Google Shape;147;p8"/>
          <p:cNvSpPr/>
          <p:nvPr/>
        </p:nvSpPr>
        <p:spPr>
          <a:xfrm>
            <a:off x="589975" y="781050"/>
            <a:ext cx="8096400" cy="8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Como funciona:</a:t>
            </a:r>
            <a:endParaRPr b="1" sz="4000"/>
          </a:p>
        </p:txBody>
      </p:sp>
      <p:sp>
        <p:nvSpPr>
          <p:cNvPr id="148" name="Google Shape;148;p8"/>
          <p:cNvSpPr/>
          <p:nvPr/>
        </p:nvSpPr>
        <p:spPr>
          <a:xfrm>
            <a:off x="533400" y="1638300"/>
            <a:ext cx="6191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A busca combina palavra-chave, área, tipo, cidade e região; o chatbot usa a mesma rota de vagas.</a:t>
            </a:r>
            <a:endParaRPr/>
          </a:p>
        </p:txBody>
      </p:sp>
      <p:pic>
        <p:nvPicPr>
          <p:cNvPr id="149" name="Google Shape;149;p8"/>
          <p:cNvPicPr preferRelativeResize="0"/>
          <p:nvPr/>
        </p:nvPicPr>
        <p:blipFill rotWithShape="1">
          <a:blip r:embed="rId3">
            <a:alphaModFix/>
          </a:blip>
          <a:srcRect b="0" l="2957" r="2957" t="0"/>
          <a:stretch/>
        </p:blipFill>
        <p:spPr>
          <a:xfrm>
            <a:off x="6858000" y="1504950"/>
            <a:ext cx="4171950" cy="249555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8"/>
          <p:cNvSpPr/>
          <p:nvPr/>
        </p:nvSpPr>
        <p:spPr>
          <a:xfrm>
            <a:off x="666750" y="2362200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7C3A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8"/>
          <p:cNvSpPr/>
          <p:nvPr/>
        </p:nvSpPr>
        <p:spPr>
          <a:xfrm>
            <a:off x="990600" y="2324100"/>
            <a:ext cx="4867275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Filtros por cidade e região</a:t>
            </a:r>
            <a:endParaRPr/>
          </a:p>
        </p:txBody>
      </p:sp>
      <p:sp>
        <p:nvSpPr>
          <p:cNvPr id="152" name="Google Shape;152;p8"/>
          <p:cNvSpPr/>
          <p:nvPr/>
        </p:nvSpPr>
        <p:spPr>
          <a:xfrm>
            <a:off x="990600" y="2600325"/>
            <a:ext cx="4867275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Agora a busca combina palavra-chave, área, tipo, cidade, região e remoto.</a:t>
            </a:r>
            <a:endParaRPr/>
          </a:p>
        </p:txBody>
      </p:sp>
      <p:sp>
        <p:nvSpPr>
          <p:cNvPr id="153" name="Google Shape;153;p8"/>
          <p:cNvSpPr/>
          <p:nvPr/>
        </p:nvSpPr>
        <p:spPr>
          <a:xfrm>
            <a:off x="666750" y="3038475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8"/>
          <p:cNvSpPr/>
          <p:nvPr/>
        </p:nvSpPr>
        <p:spPr>
          <a:xfrm>
            <a:off x="990600" y="3000375"/>
            <a:ext cx="4867275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Chatbot integrado às vagas</a:t>
            </a:r>
            <a:endParaRPr/>
          </a:p>
        </p:txBody>
      </p:sp>
      <p:sp>
        <p:nvSpPr>
          <p:cNvPr id="155" name="Google Shape;155;p8"/>
          <p:cNvSpPr/>
          <p:nvPr/>
        </p:nvSpPr>
        <p:spPr>
          <a:xfrm>
            <a:off x="990600" y="3276600"/>
            <a:ext cx="4867275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O bot entende frases como "vagas de administração em BH" e retorna opções no chat.</a:t>
            </a:r>
            <a:endParaRPr/>
          </a:p>
        </p:txBody>
      </p:sp>
      <p:sp>
        <p:nvSpPr>
          <p:cNvPr id="156" name="Google Shape;156;p8"/>
          <p:cNvSpPr/>
          <p:nvPr/>
        </p:nvSpPr>
        <p:spPr>
          <a:xfrm>
            <a:off x="666750" y="3714750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8"/>
          <p:cNvSpPr/>
          <p:nvPr/>
        </p:nvSpPr>
        <p:spPr>
          <a:xfrm>
            <a:off x="990600" y="3676650"/>
            <a:ext cx="4867275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API com fallback</a:t>
            </a:r>
            <a:endParaRPr/>
          </a:p>
        </p:txBody>
      </p:sp>
      <p:sp>
        <p:nvSpPr>
          <p:cNvPr id="158" name="Google Shape;158;p8"/>
          <p:cNvSpPr/>
          <p:nvPr/>
        </p:nvSpPr>
        <p:spPr>
          <a:xfrm>
            <a:off x="990600" y="3952875"/>
            <a:ext cx="4867275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Se a API externa falhar ou demorar, o sistema mostra vagas locais salvas no banco.</a:t>
            </a:r>
            <a:endParaRPr/>
          </a:p>
        </p:txBody>
      </p:sp>
      <p:sp>
        <p:nvSpPr>
          <p:cNvPr id="159" name="Google Shape;159;p8"/>
          <p:cNvSpPr/>
          <p:nvPr/>
        </p:nvSpPr>
        <p:spPr>
          <a:xfrm>
            <a:off x="666750" y="4391025"/>
            <a:ext cx="171450" cy="171450"/>
          </a:xfrm>
          <a:prstGeom prst="roundRect">
            <a:avLst>
              <a:gd fmla="val 11111" name="adj"/>
            </a:avLst>
          </a:prstGeom>
          <a:solidFill>
            <a:srgbClr val="4C1D9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8"/>
          <p:cNvSpPr/>
          <p:nvPr/>
        </p:nvSpPr>
        <p:spPr>
          <a:xfrm>
            <a:off x="990600" y="4352925"/>
            <a:ext cx="4867275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Candidatura única</a:t>
            </a:r>
            <a:endParaRPr/>
          </a:p>
        </p:txBody>
      </p:sp>
      <p:sp>
        <p:nvSpPr>
          <p:cNvPr id="161" name="Google Shape;161;p8"/>
          <p:cNvSpPr/>
          <p:nvPr/>
        </p:nvSpPr>
        <p:spPr>
          <a:xfrm>
            <a:off x="990600" y="4629150"/>
            <a:ext cx="4867275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A candidatura fica no perfil com vaga, empresa, data e status, sem duplicar envio.</a:t>
            </a:r>
            <a:endParaRPr/>
          </a:p>
        </p:txBody>
      </p:sp>
      <p:sp>
        <p:nvSpPr>
          <p:cNvPr id="162" name="Google Shape;162;p8"/>
          <p:cNvSpPr/>
          <p:nvPr/>
        </p:nvSpPr>
        <p:spPr>
          <a:xfrm>
            <a:off x="6724650" y="4324350"/>
            <a:ext cx="4095750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2E1065"/>
                </a:solidFill>
                <a:latin typeface="Calibri"/>
                <a:ea typeface="Calibri"/>
                <a:cs typeface="Calibri"/>
                <a:sym typeface="Calibri"/>
              </a:rPr>
              <a:t>Menos tela vazia, mais controle na apresentação.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9"/>
          <p:cNvSpPr/>
          <p:nvPr/>
        </p:nvSpPr>
        <p:spPr>
          <a:xfrm>
            <a:off x="533400" y="6343650"/>
            <a:ext cx="209550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4C1D95"/>
                </a:solidFill>
                <a:latin typeface="Calibri"/>
                <a:ea typeface="Calibri"/>
                <a:cs typeface="Calibri"/>
                <a:sym typeface="Calibri"/>
              </a:rPr>
              <a:t>Favela Tech</a:t>
            </a:r>
            <a:endParaRPr/>
          </a:p>
        </p:txBody>
      </p:sp>
      <p:sp>
        <p:nvSpPr>
          <p:cNvPr id="169" name="Google Shape;169;p9"/>
          <p:cNvSpPr/>
          <p:nvPr/>
        </p:nvSpPr>
        <p:spPr>
          <a:xfrm>
            <a:off x="11144250" y="6343650"/>
            <a:ext cx="51435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/>
          </a:p>
        </p:txBody>
      </p:sp>
      <p:sp>
        <p:nvSpPr>
          <p:cNvPr id="170" name="Google Shape;170;p9"/>
          <p:cNvSpPr/>
          <p:nvPr/>
        </p:nvSpPr>
        <p:spPr>
          <a:xfrm>
            <a:off x="194050" y="150425"/>
            <a:ext cx="57150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Perfil e currículo</a:t>
            </a:r>
            <a:endParaRPr sz="3500"/>
          </a:p>
        </p:txBody>
      </p:sp>
      <p:sp>
        <p:nvSpPr>
          <p:cNvPr id="171" name="Google Shape;171;p9"/>
          <p:cNvSpPr/>
          <p:nvPr/>
        </p:nvSpPr>
        <p:spPr>
          <a:xfrm>
            <a:off x="533400" y="781050"/>
            <a:ext cx="8096250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Como funciona:</a:t>
            </a:r>
            <a:endParaRPr b="1" sz="4000"/>
          </a:p>
        </p:txBody>
      </p:sp>
      <p:sp>
        <p:nvSpPr>
          <p:cNvPr id="172" name="Google Shape;172;p9"/>
          <p:cNvSpPr/>
          <p:nvPr/>
        </p:nvSpPr>
        <p:spPr>
          <a:xfrm>
            <a:off x="533400" y="1638300"/>
            <a:ext cx="6191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Depois do login, o usuário acessa Minha conta, atualiza dados e mantém o currículo pronto.</a:t>
            </a:r>
            <a:endParaRPr/>
          </a:p>
        </p:txBody>
      </p:sp>
      <p:pic>
        <p:nvPicPr>
          <p:cNvPr id="173" name="Google Shape;173;p9"/>
          <p:cNvPicPr preferRelativeResize="0"/>
          <p:nvPr/>
        </p:nvPicPr>
        <p:blipFill rotWithShape="1">
          <a:blip r:embed="rId3">
            <a:alphaModFix/>
          </a:blip>
          <a:srcRect b="0" l="8561" r="8561" t="0"/>
          <a:stretch/>
        </p:blipFill>
        <p:spPr>
          <a:xfrm>
            <a:off x="685800" y="2286000"/>
            <a:ext cx="4135976" cy="278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9"/>
          <p:cNvSpPr/>
          <p:nvPr/>
        </p:nvSpPr>
        <p:spPr>
          <a:xfrm>
            <a:off x="5410275" y="2504163"/>
            <a:ext cx="171600" cy="171600"/>
          </a:xfrm>
          <a:prstGeom prst="roundRect">
            <a:avLst>
              <a:gd fmla="val 11111" name="adj"/>
            </a:avLst>
          </a:prstGeom>
          <a:solidFill>
            <a:srgbClr val="7C3A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9"/>
          <p:cNvSpPr/>
          <p:nvPr/>
        </p:nvSpPr>
        <p:spPr>
          <a:xfrm>
            <a:off x="5734050" y="2266950"/>
            <a:ext cx="5010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Dados do perfil</a:t>
            </a:r>
            <a:endParaRPr/>
          </a:p>
        </p:txBody>
      </p:sp>
      <p:sp>
        <p:nvSpPr>
          <p:cNvPr id="176" name="Google Shape;176;p9"/>
          <p:cNvSpPr/>
          <p:nvPr/>
        </p:nvSpPr>
        <p:spPr>
          <a:xfrm>
            <a:off x="5734050" y="2543175"/>
            <a:ext cx="50101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Nome, foto, telefone, e-mail, endereço e informações básicas.</a:t>
            </a:r>
            <a:endParaRPr/>
          </a:p>
        </p:txBody>
      </p:sp>
      <p:sp>
        <p:nvSpPr>
          <p:cNvPr id="177" name="Google Shape;177;p9"/>
          <p:cNvSpPr/>
          <p:nvPr/>
        </p:nvSpPr>
        <p:spPr>
          <a:xfrm>
            <a:off x="5410275" y="3105150"/>
            <a:ext cx="171600" cy="171600"/>
          </a:xfrm>
          <a:prstGeom prst="roundRect">
            <a:avLst>
              <a:gd fmla="val 11111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9"/>
          <p:cNvSpPr/>
          <p:nvPr/>
        </p:nvSpPr>
        <p:spPr>
          <a:xfrm>
            <a:off x="5734050" y="2933700"/>
            <a:ext cx="5010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ViaCEP</a:t>
            </a:r>
            <a:endParaRPr/>
          </a:p>
        </p:txBody>
      </p:sp>
      <p:sp>
        <p:nvSpPr>
          <p:cNvPr id="179" name="Google Shape;179;p9"/>
          <p:cNvSpPr/>
          <p:nvPr/>
        </p:nvSpPr>
        <p:spPr>
          <a:xfrm>
            <a:off x="5734050" y="3209925"/>
            <a:ext cx="50101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Ao informar o CEP, o site busca rua, bairro, cidade e estado automaticamente.</a:t>
            </a:r>
            <a:endParaRPr/>
          </a:p>
        </p:txBody>
      </p:sp>
      <p:sp>
        <p:nvSpPr>
          <p:cNvPr id="180" name="Google Shape;180;p9"/>
          <p:cNvSpPr/>
          <p:nvPr/>
        </p:nvSpPr>
        <p:spPr>
          <a:xfrm>
            <a:off x="5410200" y="3785150"/>
            <a:ext cx="171600" cy="171600"/>
          </a:xfrm>
          <a:prstGeom prst="roundRect">
            <a:avLst>
              <a:gd fmla="val 11111" name="adj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9"/>
          <p:cNvSpPr/>
          <p:nvPr/>
        </p:nvSpPr>
        <p:spPr>
          <a:xfrm>
            <a:off x="5734050" y="3600450"/>
            <a:ext cx="5010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Privacidade visual</a:t>
            </a:r>
            <a:endParaRPr/>
          </a:p>
        </p:txBody>
      </p:sp>
      <p:sp>
        <p:nvSpPr>
          <p:cNvPr id="182" name="Google Shape;182;p9"/>
          <p:cNvSpPr/>
          <p:nvPr/>
        </p:nvSpPr>
        <p:spPr>
          <a:xfrm>
            <a:off x="5734050" y="3876675"/>
            <a:ext cx="50101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Telefone e e-mail aparecem mascarados, e alterações sensíveis pedem confirmação.</a:t>
            </a:r>
            <a:endParaRPr/>
          </a:p>
        </p:txBody>
      </p:sp>
      <p:sp>
        <p:nvSpPr>
          <p:cNvPr id="183" name="Google Shape;183;p9"/>
          <p:cNvSpPr/>
          <p:nvPr/>
        </p:nvSpPr>
        <p:spPr>
          <a:xfrm>
            <a:off x="5410200" y="4438650"/>
            <a:ext cx="171600" cy="171600"/>
          </a:xfrm>
          <a:prstGeom prst="roundRect">
            <a:avLst>
              <a:gd fmla="val 11111" name="adj"/>
            </a:avLst>
          </a:prstGeom>
          <a:solidFill>
            <a:srgbClr val="4C1D9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9"/>
          <p:cNvSpPr/>
          <p:nvPr/>
        </p:nvSpPr>
        <p:spPr>
          <a:xfrm>
            <a:off x="5734050" y="4267200"/>
            <a:ext cx="50101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75">
                <a:solidFill>
                  <a:srgbClr val="17132F"/>
                </a:solidFill>
                <a:latin typeface="Calibri"/>
                <a:ea typeface="Calibri"/>
                <a:cs typeface="Calibri"/>
                <a:sym typeface="Calibri"/>
              </a:rPr>
              <a:t>Currículo imprimível</a:t>
            </a:r>
            <a:endParaRPr/>
          </a:p>
        </p:txBody>
      </p:sp>
      <p:sp>
        <p:nvSpPr>
          <p:cNvPr id="185" name="Google Shape;185;p9"/>
          <p:cNvSpPr/>
          <p:nvPr/>
        </p:nvSpPr>
        <p:spPr>
          <a:xfrm>
            <a:off x="5734050" y="4543425"/>
            <a:ext cx="501015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B556F"/>
                </a:solidFill>
                <a:latin typeface="Calibri"/>
                <a:ea typeface="Calibri"/>
                <a:cs typeface="Calibri"/>
                <a:sym typeface="Calibri"/>
              </a:rPr>
              <a:t>O site gera um modelo com layout próprio para impressão e apresentação.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1B4B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Google Shape;191;p10"/>
          <p:cNvPicPr preferRelativeResize="0"/>
          <p:nvPr/>
        </p:nvPicPr>
        <p:blipFill rotWithShape="1">
          <a:blip r:embed="rId3">
            <a:alphaModFix/>
          </a:blip>
          <a:srcRect b="27" l="0" r="0" t="27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0B35">
              <a:alpha val="86667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10"/>
          <p:cNvSpPr/>
          <p:nvPr/>
        </p:nvSpPr>
        <p:spPr>
          <a:xfrm>
            <a:off x="265925" y="350750"/>
            <a:ext cx="6196200" cy="70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C4B5FD"/>
                </a:solidFill>
                <a:latin typeface="Calibri"/>
                <a:ea typeface="Calibri"/>
                <a:cs typeface="Calibri"/>
                <a:sym typeface="Calibri"/>
              </a:rPr>
              <a:t>Resultado atual</a:t>
            </a:r>
            <a:endParaRPr sz="3500"/>
          </a:p>
        </p:txBody>
      </p:sp>
      <p:sp>
        <p:nvSpPr>
          <p:cNvPr id="194" name="Google Shape;194;p10"/>
          <p:cNvSpPr/>
          <p:nvPr/>
        </p:nvSpPr>
        <p:spPr>
          <a:xfrm>
            <a:off x="647700" y="1257300"/>
            <a:ext cx="781050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4200"/>
          </a:p>
        </p:txBody>
      </p:sp>
      <p:sp>
        <p:nvSpPr>
          <p:cNvPr id="195" name="Google Shape;195;p10"/>
          <p:cNvSpPr/>
          <p:nvPr/>
        </p:nvSpPr>
        <p:spPr>
          <a:xfrm>
            <a:off x="2273825" y="2054275"/>
            <a:ext cx="8670600" cy="3813900"/>
          </a:xfrm>
          <a:prstGeom prst="roundRect">
            <a:avLst>
              <a:gd fmla="val 4494" name="adj"/>
            </a:avLst>
          </a:prstGeom>
          <a:solidFill>
            <a:srgbClr val="1E1B4B">
              <a:alpha val="80000"/>
            </a:srgbClr>
          </a:solidFill>
          <a:ln cap="flat" cmpd="sng" w="9525">
            <a:solidFill>
              <a:srgbClr val="4C1D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0"/>
          <p:cNvSpPr/>
          <p:nvPr/>
        </p:nvSpPr>
        <p:spPr>
          <a:xfrm>
            <a:off x="3139200" y="2804400"/>
            <a:ext cx="451200" cy="420900"/>
          </a:xfrm>
          <a:prstGeom prst="roundRect">
            <a:avLst>
              <a:gd fmla="val 11111" name="adj"/>
            </a:avLst>
          </a:prstGeom>
          <a:solidFill>
            <a:srgbClr val="C4B5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10"/>
          <p:cNvSpPr/>
          <p:nvPr/>
        </p:nvSpPr>
        <p:spPr>
          <a:xfrm>
            <a:off x="4100050" y="2730450"/>
            <a:ext cx="24765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25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Entrega principal</a:t>
            </a:r>
            <a:endParaRPr sz="1900"/>
          </a:p>
        </p:txBody>
      </p:sp>
      <p:sp>
        <p:nvSpPr>
          <p:cNvPr id="198" name="Google Shape;198;p10"/>
          <p:cNvSpPr/>
          <p:nvPr/>
        </p:nvSpPr>
        <p:spPr>
          <a:xfrm>
            <a:off x="7086200" y="2504200"/>
            <a:ext cx="33339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25">
                <a:solidFill>
                  <a:srgbClr val="EDE9FE"/>
                </a:solidFill>
                <a:latin typeface="Calibri"/>
                <a:ea typeface="Calibri"/>
                <a:cs typeface="Calibri"/>
                <a:sym typeface="Calibri"/>
              </a:rPr>
              <a:t>Login, perfil, currículo, vagas, candidaturas, termos e chatbot em um único portal.</a:t>
            </a:r>
            <a:endParaRPr sz="1800"/>
          </a:p>
        </p:txBody>
      </p:sp>
      <p:sp>
        <p:nvSpPr>
          <p:cNvPr id="199" name="Google Shape;199;p10"/>
          <p:cNvSpPr/>
          <p:nvPr/>
        </p:nvSpPr>
        <p:spPr>
          <a:xfrm>
            <a:off x="3139200" y="3632063"/>
            <a:ext cx="451200" cy="420900"/>
          </a:xfrm>
          <a:prstGeom prst="roundRect">
            <a:avLst>
              <a:gd fmla="val 11111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0"/>
          <p:cNvSpPr/>
          <p:nvPr/>
        </p:nvSpPr>
        <p:spPr>
          <a:xfrm>
            <a:off x="4100050" y="3424375"/>
            <a:ext cx="2476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Busca mais robusta</a:t>
            </a:r>
            <a:endParaRPr sz="1900"/>
          </a:p>
        </p:txBody>
      </p:sp>
      <p:sp>
        <p:nvSpPr>
          <p:cNvPr id="201" name="Google Shape;201;p10"/>
          <p:cNvSpPr/>
          <p:nvPr/>
        </p:nvSpPr>
        <p:spPr>
          <a:xfrm>
            <a:off x="7086200" y="3348175"/>
            <a:ext cx="33339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25">
                <a:solidFill>
                  <a:srgbClr val="EDE9FE"/>
                </a:solidFill>
                <a:latin typeface="Calibri"/>
                <a:ea typeface="Calibri"/>
                <a:cs typeface="Calibri"/>
                <a:sym typeface="Calibri"/>
              </a:rPr>
              <a:t>Filtros por cidade/região, recomendação por habilidades e fallback para evitar tela vazia.</a:t>
            </a:r>
            <a:endParaRPr sz="1800"/>
          </a:p>
        </p:txBody>
      </p:sp>
      <p:sp>
        <p:nvSpPr>
          <p:cNvPr id="202" name="Google Shape;202;p10"/>
          <p:cNvSpPr/>
          <p:nvPr/>
        </p:nvSpPr>
        <p:spPr>
          <a:xfrm>
            <a:off x="3139125" y="4459725"/>
            <a:ext cx="451200" cy="420900"/>
          </a:xfrm>
          <a:prstGeom prst="roundRect">
            <a:avLst>
              <a:gd fmla="val 11111" name="adj"/>
            </a:avLst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/>
          </a:p>
        </p:txBody>
      </p:sp>
      <p:sp>
        <p:nvSpPr>
          <p:cNvPr id="203" name="Google Shape;203;p10"/>
          <p:cNvSpPr/>
          <p:nvPr/>
        </p:nvSpPr>
        <p:spPr>
          <a:xfrm>
            <a:off x="4100050" y="4476750"/>
            <a:ext cx="2476500" cy="40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Próximo passo</a:t>
            </a:r>
            <a:endParaRPr sz="1900"/>
          </a:p>
        </p:txBody>
      </p:sp>
      <p:sp>
        <p:nvSpPr>
          <p:cNvPr id="204" name="Google Shape;204;p10"/>
          <p:cNvSpPr/>
          <p:nvPr/>
        </p:nvSpPr>
        <p:spPr>
          <a:xfrm>
            <a:off x="7086200" y="4238625"/>
            <a:ext cx="33339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25">
                <a:solidFill>
                  <a:srgbClr val="EDE9FE"/>
                </a:solidFill>
                <a:latin typeface="Calibri"/>
                <a:ea typeface="Calibri"/>
                <a:cs typeface="Calibri"/>
                <a:sym typeface="Calibri"/>
              </a:rPr>
              <a:t>Trocar a fonte externa de vagas e publicar o ambiente para ativar e-mails reais.</a:t>
            </a:r>
            <a:endParaRPr sz="1800"/>
          </a:p>
        </p:txBody>
      </p:sp>
      <p:sp>
        <p:nvSpPr>
          <p:cNvPr id="205" name="Google Shape;205;p10"/>
          <p:cNvSpPr/>
          <p:nvPr/>
        </p:nvSpPr>
        <p:spPr>
          <a:xfrm>
            <a:off x="647700" y="6115050"/>
            <a:ext cx="3048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Demonstração ao vivo no próximo slide.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0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70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0000" y="2040000"/>
            <a:ext cx="10550000" cy="3160000"/>
          </a:xfrm>
          <a:prstGeom prst="roundRect">
            <a:avLst/>
          </a:prstGeom>
          <a:solidFill>
            <a:srgbClr val="1E1B4B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6000" y="540000"/>
            <a:ext cx="11100000" cy="7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C4B5FD"/>
                </a:solidFill>
                <a:latin typeface="Calibri"/>
              </a:rPr>
              <a:t>Obrigado!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6000" y="1280000"/>
            <a:ext cx="10300000" cy="5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O que aprendi realizando o Favela Tech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0000" y="2500000"/>
            <a:ext cx="2880000" cy="41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Planejamento de produto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0000" y="2940000"/>
            <a:ext cx="2880000" cy="8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EDE9FE"/>
                </a:solidFill>
                <a:latin typeface="Calibri"/>
              </a:rPr>
              <a:t>Aprendi a transformar um problema real em páginas, fluxos e funcionalidades com começo, meio e fim.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50000" y="2500000"/>
            <a:ext cx="2880000" cy="41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Integração técnica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0000" y="2940000"/>
            <a:ext cx="2880000" cy="8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EDE9FE"/>
                </a:solidFill>
                <a:latin typeface="Calibri"/>
              </a:rPr>
              <a:t>Pratiquei rotas, consumo de API, banco de dados, login, candidatura e tratamento de falhas.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2500000"/>
            <a:ext cx="2880000" cy="41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Calibri"/>
              </a:rPr>
              <a:t>Experiência do usuário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00000" y="2940000"/>
            <a:ext cx="2880000" cy="8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EDE9FE"/>
                </a:solidFill>
                <a:latin typeface="Calibri"/>
              </a:rPr>
              <a:t>Melhorei a navegação pensando em quem vai usar: filtros, chatbot, perfil, currículo e mensagens claras.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6000" y="5570000"/>
            <a:ext cx="9500000" cy="5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Muito obrigado pela atenção.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" y="6343650"/>
            <a:ext cx="210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25" b="1">
                <a:solidFill>
                  <a:srgbClr val="C4B5FD"/>
                </a:solidFill>
                <a:latin typeface="Calibri"/>
              </a:rPr>
              <a:t>Favela Tech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44250" y="6343650"/>
            <a:ext cx="515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25" b="1">
                <a:solidFill>
                  <a:srgbClr val="C4B5F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undo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0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/>
          <a:lstStyle/>
          <a:p/>
        </p:txBody>
      </p:sp>
      <p:sp>
        <p:nvSpPr>
          <p:cNvPr id="3" name="Barra superior"/>
          <p:cNvSpPr/>
          <p:nvPr/>
        </p:nvSpPr>
        <p:spPr>
          <a:xfrm>
            <a:off x="0" y="0"/>
            <a:ext cx="12192000" cy="170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/>
          <a:lstStyle/>
          <a:p/>
        </p:txBody>
      </p:sp>
      <p:sp>
        <p:nvSpPr>
          <p:cNvPr id="4" name="Painel central"/>
          <p:cNvSpPr/>
          <p:nvPr/>
        </p:nvSpPr>
        <p:spPr>
          <a:xfrm>
            <a:off x="1050000" y="2310000"/>
            <a:ext cx="10090000" cy="2200000"/>
          </a:xfrm>
          <a:prstGeom prst="roundRect">
            <a:avLst/>
          </a:prstGeom>
          <a:solidFill>
            <a:srgbClr val="1E1B4B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/>
          <a:lstStyle/>
          <a:p/>
        </p:txBody>
      </p:sp>
      <p:sp>
        <p:nvSpPr>
          <p:cNvPr id="5" name="Titulo"/>
          <p:cNvSpPr txBox="1"/>
          <p:nvPr/>
        </p:nvSpPr>
        <p:spPr>
          <a:xfrm>
            <a:off x="1400000" y="2870000"/>
            <a:ext cx="9400000" cy="980000"/>
          </a:xfrm>
          <a:prstGeom prst="rect">
            <a:avLst/>
          </a:prstGeom>
          <a:noFill/>
          <a:ln>
            <a:noFill/>
          </a:ln>
        </p:spPr>
        <p:txBody>
          <a:bodyPr rtlCol="0" anchor="ctr">
            <a:spAutoFit/>
          </a:bodyPr>
          <a:lstStyle/>
          <a:p>
            <a:pPr algn="ctr"/>
            <a:r>
              <a:rPr lang="pt-BR" sz="5800" b="1">
                <a:solidFill>
                  <a:srgbClr val="FFFFFF"/>
                </a:solidFill>
                <a:latin typeface="Aptos Display"/>
                <a:cs typeface="Aptos Display"/>
              </a:rPr>
              <a:t>Hora da apresentação</a:t>
            </a:r>
            <a:endParaRPr lang="pt-BR" sz="5800"/>
          </a:p>
        </p:txBody>
      </p:sp>
      <p:sp>
        <p:nvSpPr>
          <p:cNvPr id="6" name="Linha decorativa"/>
          <p:cNvSpPr/>
          <p:nvPr/>
        </p:nvSpPr>
        <p:spPr>
          <a:xfrm>
            <a:off x="3060000" y="4010000"/>
            <a:ext cx="5800000" cy="900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